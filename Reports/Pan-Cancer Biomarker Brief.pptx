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this is a discovery-stage asset, not a validated clinical product. The headline is the discordance figure — it is both the scientific finding and the commercial moat. Do not claim external validation at any point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commercial point: setting the sign per indication is not a refinement, it is the difference between a marker that works and one that inverts. Proliferation transfers across indications without re-fitting. Immune and interferon markers require a per-indication 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that the two modalities are a cross-check, not a doubling of claims. Where protein and RNA disagree, the disagreement is itself informative — the p53 case in glioma reads mutation status rather than expression.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first question a technical diligence reader asks: how do you know this is not overfitting. The gates are pre-specified and applied uniformly. Adrenocortical carcinoma and uveal melanoma are the underpowered flags and are reported separately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gene here replicates in every cohort where it is significant — the second number equals the first. A one-standard-deviation rise raises the hazard by roughly 1.4 to 1.7 fold, and by about the same amount in cancers of different tissue origin. This is the part of the atlas that transfers without re-fitting.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the previous slide: the risk axis is growth rate, the protective axis is retained tissue identity. The circadian finding is the most distinctive — it is a clean directional result with no counter-example in the replicated set, and it is not something a competitor screening for proliferation would find.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statement slide — the only one on the accent background. The point to land: APOL1 splits three and three, and CYP27A1 is protective in five cohorts and risk in one. No amount of pan-cancer averaging recovers that. The directions are not noise; they replicate within each cohort on held-out patients.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 the obvious objection: if a gene flips sign, is the analysis wrong? No — each direction is independently replicated within its cohort, and all three readings are consistent with published tumour immunology. The commercial consequence is that stromal markers can be sold pan-cancer and immune markers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12 of 17, then qualify immediately with the all-tiers figure of about +0.02. Lung adenocarcinoma is included deliberately as a negative case: it is already well predicted by stage, and expression adds nothing. An investor who spots that we volunteered the negative trusts the positives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immune score row is deliberately included as a non-asset: it is scientifically the most interesting result and commercially the one that cannot be sold as a single product. Saying so is what makes the other rows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milestone, not the risks. The honest framing is the strongest one here: the atlas is a discovery asset with a pre-specified validation plan, and the limitations are stated because an investor will find them anyway. If asked what would kill it: failure of the proliferation score to replicate externally, since that is the part claimed to transfer.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7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79100" cy="877813"/>
          </a:xfrm>
          <a:prstGeom prst="rect">
            <a:avLst/>
          </a:prstGeom>
          <a:noFill/>
          <a:ln/>
        </p:spPr>
        <p:txBody>
          <a:bodyPr wrap="square" lIns="0" tIns="0" rIns="0" bIns="0" rtlCol="0" anchor="t"/>
          <a:lstStyle>
            <a:lvl1pPr algn="l" indent="0" marL="0">
              <a:lnSpc>
                <a:spcPct val="115000"/>
              </a:lnSpc>
              <a:buNone/>
              <a:defRPr lang="en-US" sz="3600" dirty="0">
                <a:solidFill>
                  <a:srgbClr val="141A1F"/>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95413"/>
            <a:ext cx="10566400" cy="4049787"/>
          </a:xfrm>
          <a:prstGeom prst="rect">
            <a:avLst/>
          </a:prstGeom>
          <a:noFill/>
          <a:ln/>
        </p:spPr>
        <p:txBody>
          <a:bodyPr wrap="square" lIns="0" tIns="0" rIns="0" bIns="0" rtlCol="0" anchor="t"/>
          <a:lstStyle>
            <a:lvl1pPr algn="l" indent="0" marL="0">
              <a:lnSpc>
                <a:spcPct val="140000"/>
              </a:lnSpc>
              <a:buNone/>
              <a:defRPr lang="en-US" sz="1600" dirty="0">
                <a:solidFill>
                  <a:srgbClr val="141A1F"/>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7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79100" cy="877813"/>
          </a:xfrm>
          <a:prstGeom prst="rect">
            <a:avLst/>
          </a:prstGeom>
          <a:noFill/>
          <a:ln/>
        </p:spPr>
        <p:txBody>
          <a:bodyPr wrap="square" lIns="0" tIns="0" rIns="0" bIns="0" rtlCol="0" anchor="t"/>
          <a:lstStyle>
            <a:lvl1pPr algn="l" indent="0" marL="0">
              <a:lnSpc>
                <a:spcPct val="115000"/>
              </a:lnSpc>
              <a:buNone/>
              <a:defRPr lang="en-US" sz="3600" dirty="0">
                <a:solidFill>
                  <a:srgbClr val="141A1F"/>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95413"/>
            <a:ext cx="10566400" cy="4049787"/>
          </a:xfrm>
          <a:prstGeom prst="rect">
            <a:avLst/>
          </a:prstGeom>
          <a:noFill/>
          <a:ln/>
        </p:spPr>
        <p:txBody>
          <a:bodyPr wrap="square" lIns="0" tIns="0" rIns="0" bIns="0" rtlCol="0" anchor="t"/>
          <a:lstStyle>
            <a:lvl1pPr algn="l" indent="0" marL="0">
              <a:lnSpc>
                <a:spcPct val="140000"/>
              </a:lnSpc>
              <a:buNone/>
              <a:defRPr lang="en-US" sz="1600" dirty="0">
                <a:solidFill>
                  <a:srgbClr val="141A1F"/>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A1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703D"/>
                </a:solidFill>
                <a:latin typeface="IBM Plex Sans" pitchFamily="34" charset="0"/>
                <a:ea typeface="IBM Plex Sans" pitchFamily="34" charset="-122"/>
                <a:cs typeface="IBM Plex Sans" pitchFamily="34" charset="-120"/>
              </a:rPr>
              <a:t>PAN-CANCER SURVIVAL GENOMICS · DISCOVERY STAGE</a:t>
            </a:r>
            <a:endParaRPr lang="en-US" sz="1200" dirty="0"/>
          </a:p>
        </p:txBody>
      </p:sp>
      <p:sp>
        <p:nvSpPr>
          <p:cNvPr id="3" name="Text 1"/>
          <p:cNvSpPr/>
          <p:nvPr>
            <p:ph type="title"/>
          </p:nvPr>
        </p:nvSpPr>
        <p:spPr>
          <a:xfrm>
            <a:off x="812800" y="176912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0" i="0" dirty="0">
                <a:solidFill>
                  <a:srgbClr val="F7F7F4"/>
                </a:solidFill>
                <a:latin typeface="Source Serif 4" pitchFamily="18" charset="0"/>
                <a:ea typeface="Source Serif 4" pitchFamily="18" charset="-122"/>
                <a:cs typeface="Source Serif 4" pitchFamily="18" charset="-120"/>
              </a:rPr>
              <a:t>Prognostic biomarkers are cancer-type specific</a:t>
            </a:r>
            <a:endParaRPr lang="en-US" sz="6000" dirty="0"/>
          </a:p>
        </p:txBody>
      </p:sp>
      <p:sp>
        <p:nvSpPr>
          <p:cNvPr id="4" name="Text 2"/>
          <p:cNvSpPr/>
          <p:nvPr/>
        </p:nvSpPr>
        <p:spPr>
          <a:xfrm>
            <a:off x="812800" y="3623320"/>
            <a:ext cx="8502650" cy="779760"/>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C3D0D4"/>
                </a:solidFill>
                <a:latin typeface="IBM Plex Sans" pitchFamily="34" charset="0"/>
                <a:ea typeface="IBM Plex Sans" pitchFamily="34" charset="-122"/>
                <a:cs typeface="IBM Plex Sans" pitchFamily="34" charset="-120"/>
              </a:rPr>
              <a:t>Nearly half of recurrent prognostic genes reverse direction between cancers. Knowing the sign per indication is the asset.</a:t>
            </a:r>
            <a:endParaRPr lang="en-US" sz="2200" dirty="0"/>
          </a:p>
        </p:txBody>
      </p:sp>
      <p:sp>
        <p:nvSpPr>
          <p:cNvPr id="5" name="Text 3"/>
          <p:cNvSpPr/>
          <p:nvPr/>
        </p:nvSpPr>
        <p:spPr>
          <a:xfrm>
            <a:off x="812800" y="5120680"/>
            <a:ext cx="1652389"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F7F7F4"/>
                </a:solidFill>
                <a:latin typeface="Source Serif 4" pitchFamily="18" charset="0"/>
                <a:ea typeface="Source Serif 4" pitchFamily="18" charset="-122"/>
                <a:cs typeface="Source Serif 4" pitchFamily="18" charset="-120"/>
              </a:rPr>
              <a:t>34</a:t>
            </a:r>
            <a:endParaRPr lang="en-US" sz="3600" dirty="0"/>
          </a:p>
        </p:txBody>
      </p:sp>
      <p:sp>
        <p:nvSpPr>
          <p:cNvPr id="6" name="Text 4"/>
          <p:cNvSpPr/>
          <p:nvPr/>
        </p:nvSpPr>
        <p:spPr>
          <a:xfrm>
            <a:off x="812800" y="5628680"/>
            <a:ext cx="19219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D0D4"/>
                </a:solidFill>
                <a:latin typeface="IBM Plex Sans" pitchFamily="34" charset="0"/>
                <a:ea typeface="IBM Plex Sans" pitchFamily="34" charset="-122"/>
                <a:cs typeface="IBM Plex Sans" pitchFamily="34" charset="-120"/>
              </a:rPr>
              <a:t>TCGA cohorts screened</a:t>
            </a:r>
            <a:endParaRPr lang="en-US" sz="1200" dirty="0"/>
          </a:p>
        </p:txBody>
      </p:sp>
      <p:sp>
        <p:nvSpPr>
          <p:cNvPr id="7" name="Text 5"/>
          <p:cNvSpPr/>
          <p:nvPr/>
        </p:nvSpPr>
        <p:spPr>
          <a:xfrm>
            <a:off x="3023989" y="5120680"/>
            <a:ext cx="2221471"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F7F7F4"/>
                </a:solidFill>
                <a:latin typeface="Source Serif 4" pitchFamily="18" charset="0"/>
                <a:ea typeface="Source Serif 4" pitchFamily="18" charset="-122"/>
                <a:cs typeface="Source Serif 4" pitchFamily="18" charset="-120"/>
              </a:rPr>
              <a:t>17</a:t>
            </a:r>
            <a:endParaRPr lang="en-US" sz="3600" dirty="0"/>
          </a:p>
        </p:txBody>
      </p:sp>
      <p:sp>
        <p:nvSpPr>
          <p:cNvPr id="8" name="Text 6"/>
          <p:cNvSpPr/>
          <p:nvPr/>
        </p:nvSpPr>
        <p:spPr>
          <a:xfrm>
            <a:off x="3023989" y="5628680"/>
            <a:ext cx="25881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D0D4"/>
                </a:solidFill>
                <a:latin typeface="IBM Plex Sans" pitchFamily="34" charset="0"/>
                <a:ea typeface="IBM Plex Sans" pitchFamily="34" charset="-122"/>
                <a:cs typeface="IBM Plex Sans" pitchFamily="34" charset="-120"/>
              </a:rPr>
              <a:t>Replicated on held-out patients</a:t>
            </a:r>
            <a:endParaRPr lang="en-US" sz="1200" dirty="0"/>
          </a:p>
        </p:txBody>
      </p:sp>
      <p:sp>
        <p:nvSpPr>
          <p:cNvPr id="9" name="Text 7"/>
          <p:cNvSpPr/>
          <p:nvPr/>
        </p:nvSpPr>
        <p:spPr>
          <a:xfrm>
            <a:off x="5790357" y="5120680"/>
            <a:ext cx="2533882"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C2703D"/>
                </a:solidFill>
                <a:latin typeface="Source Serif 4" pitchFamily="18" charset="0"/>
                <a:ea typeface="Source Serif 4" pitchFamily="18" charset="-122"/>
                <a:cs typeface="Source Serif 4" pitchFamily="18" charset="-120"/>
              </a:rPr>
              <a:t>48.1%</a:t>
            </a:r>
            <a:endParaRPr lang="en-US" sz="3600" dirty="0"/>
          </a:p>
        </p:txBody>
      </p:sp>
      <p:sp>
        <p:nvSpPr>
          <p:cNvPr id="10" name="Text 8"/>
          <p:cNvSpPr/>
          <p:nvPr/>
        </p:nvSpPr>
        <p:spPr>
          <a:xfrm>
            <a:off x="5790357" y="5628680"/>
            <a:ext cx="29520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D0D4"/>
                </a:solidFill>
                <a:latin typeface="IBM Plex Sans" pitchFamily="34" charset="0"/>
                <a:ea typeface="IBM Plex Sans" pitchFamily="34" charset="-122"/>
                <a:cs typeface="IBM Plex Sans" pitchFamily="34" charset="-120"/>
              </a:rPr>
              <a:t>Of recurrent genes reverse direction</a:t>
            </a:r>
            <a:endParaRPr lang="en-US" sz="1200" dirty="0"/>
          </a:p>
        </p:txBody>
      </p:sp>
      <p:sp>
        <p:nvSpPr>
          <p:cNvPr id="11" name="Text 9"/>
          <p:cNvSpPr/>
          <p:nvPr/>
        </p:nvSpPr>
        <p:spPr>
          <a:xfrm>
            <a:off x="812800" y="6238280"/>
            <a:ext cx="42960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59B"/>
                </a:solidFill>
                <a:latin typeface="IBM Plex Sans" pitchFamily="34" charset="0"/>
                <a:ea typeface="IBM Plex Sans" pitchFamily="34" charset="-122"/>
                <a:cs typeface="IBM Plex Sans" pitchFamily="34" charset="-120"/>
              </a:rPr>
              <a:t>Denver Ncube · October 2026 · TCGA RNA and RPPA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9810750" cy="103118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1A1F"/>
                </a:solidFill>
                <a:latin typeface="Source Serif 4" pitchFamily="18" charset="0"/>
                <a:ea typeface="Source Serif 4" pitchFamily="18" charset="-122"/>
                <a:cs typeface="Source Serif 4" pitchFamily="18" charset="-120"/>
              </a:rPr>
              <a:t>Half of recurrent genes reverse direction between cancers</a:t>
            </a:r>
            <a:endParaRPr lang="en-US" sz="3600" dirty="0"/>
          </a:p>
        </p:txBody>
      </p:sp>
      <p:sp>
        <p:nvSpPr>
          <p:cNvPr id="3" name="Text 1"/>
          <p:cNvSpPr/>
          <p:nvPr/>
        </p:nvSpPr>
        <p:spPr>
          <a:xfrm>
            <a:off x="812800" y="2174180"/>
            <a:ext cx="9156700" cy="61466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0"/>
                </a:solidFill>
                <a:latin typeface="IBM Plex Sans" pitchFamily="34" charset="0"/>
                <a:ea typeface="IBM Plex Sans" pitchFamily="34" charset="-122"/>
                <a:cs typeface="IBM Plex Sans" pitchFamily="34" charset="-120"/>
              </a:rPr>
              <a:t>Of 2,611 genes significant in two or more cohorts, 1,257 reverse their direction of risk between cancers. A signature sold as pan-cancer inherits that error rate.</a:t>
            </a:r>
            <a:endParaRPr lang="en-US" sz="1600" dirty="0"/>
          </a:p>
        </p:txBody>
      </p:sp>
      <p:sp>
        <p:nvSpPr>
          <p:cNvPr id="4" name="Text 2"/>
          <p:cNvSpPr/>
          <p:nvPr/>
        </p:nvSpPr>
        <p:spPr>
          <a:xfrm>
            <a:off x="812800" y="3367931"/>
            <a:ext cx="274701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1A1F"/>
                </a:solidFill>
                <a:latin typeface="IBM Plex Sans" pitchFamily="34" charset="0"/>
                <a:ea typeface="IBM Plex Sans" pitchFamily="34" charset="-122"/>
                <a:cs typeface="IBM Plex Sans" pitchFamily="34" charset="-120"/>
              </a:rPr>
              <a:t>Discordant</a:t>
            </a:r>
            <a:endParaRPr lang="en-US" sz="1600" dirty="0"/>
          </a:p>
        </p:txBody>
      </p:sp>
      <p:sp>
        <p:nvSpPr>
          <p:cNvPr id="5" name="Shape 3"/>
          <p:cNvSpPr/>
          <p:nvPr/>
        </p:nvSpPr>
        <p:spPr>
          <a:xfrm>
            <a:off x="3683000" y="3281561"/>
            <a:ext cx="6985000" cy="457200"/>
          </a:xfrm>
          <a:prstGeom prst="roundRect">
            <a:avLst>
              <a:gd name="adj" fmla="val 11111"/>
            </a:avLst>
          </a:prstGeom>
          <a:solidFill>
            <a:srgbClr val="C2703D"/>
          </a:solidFill>
          <a:ln/>
        </p:spPr>
      </p:sp>
      <p:sp>
        <p:nvSpPr>
          <p:cNvPr id="6" name="Text 4"/>
          <p:cNvSpPr/>
          <p:nvPr/>
        </p:nvSpPr>
        <p:spPr>
          <a:xfrm>
            <a:off x="10871200" y="3119041"/>
            <a:ext cx="558800" cy="807641"/>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41A1F"/>
                </a:solidFill>
                <a:latin typeface="Source Serif 4" pitchFamily="18" charset="0"/>
                <a:ea typeface="Source Serif 4" pitchFamily="18" charset="-122"/>
                <a:cs typeface="Source Serif 4" pitchFamily="18" charset="-120"/>
              </a:rPr>
              <a:t>1,257</a:t>
            </a:r>
            <a:endParaRPr lang="en-US" sz="2200" dirty="0"/>
          </a:p>
        </p:txBody>
      </p:sp>
      <p:sp>
        <p:nvSpPr>
          <p:cNvPr id="7" name="Text 5"/>
          <p:cNvSpPr/>
          <p:nvPr/>
        </p:nvSpPr>
        <p:spPr>
          <a:xfrm>
            <a:off x="812800" y="4190851"/>
            <a:ext cx="274701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0"/>
                </a:solidFill>
                <a:latin typeface="IBM Plex Sans" pitchFamily="34" charset="0"/>
                <a:ea typeface="IBM Plex Sans" pitchFamily="34" charset="-122"/>
                <a:cs typeface="IBM Plex Sans" pitchFamily="34" charset="-120"/>
              </a:rPr>
              <a:t>Concordant risk</a:t>
            </a:r>
            <a:endParaRPr lang="en-US" sz="1600" dirty="0"/>
          </a:p>
        </p:txBody>
      </p:sp>
      <p:sp>
        <p:nvSpPr>
          <p:cNvPr id="8" name="Shape 6"/>
          <p:cNvSpPr/>
          <p:nvPr/>
        </p:nvSpPr>
        <p:spPr>
          <a:xfrm>
            <a:off x="3683000" y="4104481"/>
            <a:ext cx="5156200" cy="457200"/>
          </a:xfrm>
          <a:prstGeom prst="roundRect">
            <a:avLst>
              <a:gd name="adj" fmla="val 11111"/>
            </a:avLst>
          </a:prstGeom>
          <a:solidFill>
            <a:srgbClr val="1F6F8B"/>
          </a:solidFill>
          <a:ln/>
        </p:spPr>
      </p:sp>
      <p:sp>
        <p:nvSpPr>
          <p:cNvPr id="9" name="Text 7"/>
          <p:cNvSpPr/>
          <p:nvPr/>
        </p:nvSpPr>
        <p:spPr>
          <a:xfrm>
            <a:off x="9042400" y="4137521"/>
            <a:ext cx="53209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4A5560"/>
                </a:solidFill>
                <a:latin typeface="Source Serif 4" pitchFamily="18" charset="0"/>
                <a:ea typeface="Source Serif 4" pitchFamily="18" charset="-122"/>
                <a:cs typeface="Source Serif 4" pitchFamily="18" charset="-120"/>
              </a:rPr>
              <a:t>928</a:t>
            </a:r>
            <a:endParaRPr lang="en-US" sz="2200" dirty="0"/>
          </a:p>
        </p:txBody>
      </p:sp>
      <p:sp>
        <p:nvSpPr>
          <p:cNvPr id="10" name="Text 8"/>
          <p:cNvSpPr/>
          <p:nvPr/>
        </p:nvSpPr>
        <p:spPr>
          <a:xfrm>
            <a:off x="812800" y="4851251"/>
            <a:ext cx="274701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0"/>
                </a:solidFill>
                <a:latin typeface="IBM Plex Sans" pitchFamily="34" charset="0"/>
                <a:ea typeface="IBM Plex Sans" pitchFamily="34" charset="-122"/>
                <a:cs typeface="IBM Plex Sans" pitchFamily="34" charset="-120"/>
              </a:rPr>
              <a:t>Concordant protective</a:t>
            </a:r>
            <a:endParaRPr lang="en-US" sz="1600" dirty="0"/>
          </a:p>
        </p:txBody>
      </p:sp>
      <p:sp>
        <p:nvSpPr>
          <p:cNvPr id="11" name="Shape 9"/>
          <p:cNvSpPr/>
          <p:nvPr/>
        </p:nvSpPr>
        <p:spPr>
          <a:xfrm>
            <a:off x="3683000" y="4764881"/>
            <a:ext cx="2368550" cy="457200"/>
          </a:xfrm>
          <a:prstGeom prst="roundRect">
            <a:avLst>
              <a:gd name="adj" fmla="val 11111"/>
            </a:avLst>
          </a:prstGeom>
          <a:solidFill>
            <a:srgbClr val="7FA8B5"/>
          </a:solidFill>
          <a:ln/>
        </p:spPr>
      </p:sp>
      <p:sp>
        <p:nvSpPr>
          <p:cNvPr id="12" name="Text 10"/>
          <p:cNvSpPr/>
          <p:nvPr/>
        </p:nvSpPr>
        <p:spPr>
          <a:xfrm>
            <a:off x="6254750" y="4797921"/>
            <a:ext cx="53209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4A5560"/>
                </a:solidFill>
                <a:latin typeface="Source Serif 4" pitchFamily="18" charset="0"/>
                <a:ea typeface="Source Serif 4" pitchFamily="18" charset="-122"/>
                <a:cs typeface="Source Serif 4" pitchFamily="18" charset="-120"/>
              </a:rPr>
              <a:t>426</a:t>
            </a:r>
            <a:endParaRPr lang="en-US" sz="2200" dirty="0"/>
          </a:p>
        </p:txBody>
      </p:sp>
      <p:sp>
        <p:nvSpPr>
          <p:cNvPr id="13" name="Text 11"/>
          <p:cNvSpPr/>
          <p:nvPr/>
        </p:nvSpPr>
        <p:spPr>
          <a:xfrm>
            <a:off x="812800" y="6238280"/>
            <a:ext cx="58401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38B"/>
                </a:solidFill>
                <a:latin typeface="IBM Plex Sans" pitchFamily="34" charset="0"/>
                <a:ea typeface="IBM Plex Sans" pitchFamily="34" charset="-122"/>
                <a:cs typeface="IBM Plex Sans" pitchFamily="34" charset="-120"/>
              </a:rPr>
              <a:t>Recurrent genes by direction · 17 replicated cohorts · adjusted P &lt; 0.05</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1379200" cy="52829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1A1F"/>
                </a:solidFill>
                <a:latin typeface="Source Serif 4" pitchFamily="18" charset="0"/>
                <a:ea typeface="Source Serif 4" pitchFamily="18" charset="-122"/>
                <a:cs typeface="Source Serif 4" pitchFamily="18" charset="-120"/>
              </a:rPr>
              <a:t>11,333 associations across 17 replicated cohorts</a:t>
            </a:r>
            <a:endParaRPr lang="en-US" sz="3600" dirty="0"/>
          </a:p>
        </p:txBody>
      </p:sp>
      <p:sp>
        <p:nvSpPr>
          <p:cNvPr id="3" name="Shape 1"/>
          <p:cNvSpPr/>
          <p:nvPr/>
        </p:nvSpPr>
        <p:spPr>
          <a:xfrm>
            <a:off x="815975" y="1674465"/>
            <a:ext cx="5175250" cy="1896021"/>
          </a:xfrm>
          <a:prstGeom prst="roundRect">
            <a:avLst>
              <a:gd name="adj" fmla="val 5191"/>
            </a:avLst>
          </a:prstGeom>
          <a:solidFill>
            <a:srgbClr val="FDFDFB"/>
          </a:solidFill>
          <a:ln w="6350">
            <a:solidFill>
              <a:srgbClr val="DDE0DC"/>
            </a:solidFill>
            <a:prstDash val="solid"/>
          </a:ln>
        </p:spPr>
      </p:sp>
      <p:sp>
        <p:nvSpPr>
          <p:cNvPr id="4" name="Text 2"/>
          <p:cNvSpPr/>
          <p:nvPr/>
        </p:nvSpPr>
        <p:spPr>
          <a:xfrm>
            <a:off x="1123950" y="1982440"/>
            <a:ext cx="4696079"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1F6F8B"/>
                </a:solidFill>
                <a:latin typeface="Source Serif 4" pitchFamily="18" charset="0"/>
                <a:ea typeface="Source Serif 4" pitchFamily="18" charset="-122"/>
                <a:cs typeface="Source Serif 4" pitchFamily="18" charset="-120"/>
              </a:rPr>
              <a:t>11,333</a:t>
            </a:r>
            <a:endParaRPr lang="en-US" sz="3600" dirty="0"/>
          </a:p>
        </p:txBody>
      </p:sp>
      <p:sp>
        <p:nvSpPr>
          <p:cNvPr id="5" name="Text 3"/>
          <p:cNvSpPr/>
          <p:nvPr/>
        </p:nvSpPr>
        <p:spPr>
          <a:xfrm>
            <a:off x="1123950" y="2515840"/>
            <a:ext cx="469607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41A1F"/>
                </a:solidFill>
                <a:latin typeface="IBM Plex Sans" pitchFamily="34" charset="0"/>
                <a:ea typeface="IBM Plex Sans" pitchFamily="34" charset="-122"/>
                <a:cs typeface="IBM Plex Sans" pitchFamily="34" charset="-120"/>
              </a:rPr>
              <a:t>Gene–cohort associations</a:t>
            </a:r>
            <a:endParaRPr lang="en-US" sz="1600" dirty="0"/>
          </a:p>
        </p:txBody>
      </p:sp>
      <p:sp>
        <p:nvSpPr>
          <p:cNvPr id="6" name="Text 4"/>
          <p:cNvSpPr/>
          <p:nvPr/>
        </p:nvSpPr>
        <p:spPr>
          <a:xfrm>
            <a:off x="1123950" y="2835870"/>
            <a:ext cx="469607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Each one a Cox model fitted per gene, at adjusted P &lt; 0.05 within its cohort.</a:t>
            </a:r>
            <a:endParaRPr lang="en-US" sz="1200" dirty="0"/>
          </a:p>
        </p:txBody>
      </p:sp>
      <p:sp>
        <p:nvSpPr>
          <p:cNvPr id="7" name="Shape 5"/>
          <p:cNvSpPr/>
          <p:nvPr/>
        </p:nvSpPr>
        <p:spPr>
          <a:xfrm>
            <a:off x="6200775" y="1674465"/>
            <a:ext cx="5175250" cy="1896021"/>
          </a:xfrm>
          <a:prstGeom prst="roundRect">
            <a:avLst>
              <a:gd name="adj" fmla="val 5191"/>
            </a:avLst>
          </a:prstGeom>
          <a:solidFill>
            <a:srgbClr val="FDFDFB"/>
          </a:solidFill>
          <a:ln w="6350">
            <a:solidFill>
              <a:srgbClr val="DDE0DC"/>
            </a:solidFill>
            <a:prstDash val="solid"/>
          </a:ln>
        </p:spPr>
      </p:sp>
      <p:sp>
        <p:nvSpPr>
          <p:cNvPr id="8" name="Text 6"/>
          <p:cNvSpPr/>
          <p:nvPr/>
        </p:nvSpPr>
        <p:spPr>
          <a:xfrm>
            <a:off x="6508750" y="1982440"/>
            <a:ext cx="4696079"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1F6F8B"/>
                </a:solidFill>
                <a:latin typeface="Source Serif 4" pitchFamily="18" charset="0"/>
                <a:ea typeface="Source Serif 4" pitchFamily="18" charset="-122"/>
                <a:cs typeface="Source Serif 4" pitchFamily="18" charset="-120"/>
              </a:rPr>
              <a:t>2,611</a:t>
            </a:r>
            <a:endParaRPr lang="en-US" sz="3600" dirty="0"/>
          </a:p>
        </p:txBody>
      </p:sp>
      <p:sp>
        <p:nvSpPr>
          <p:cNvPr id="9" name="Text 7"/>
          <p:cNvSpPr/>
          <p:nvPr/>
        </p:nvSpPr>
        <p:spPr>
          <a:xfrm>
            <a:off x="6508750" y="2515840"/>
            <a:ext cx="469607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41A1F"/>
                </a:solidFill>
                <a:latin typeface="IBM Plex Sans" pitchFamily="34" charset="0"/>
                <a:ea typeface="IBM Plex Sans" pitchFamily="34" charset="-122"/>
                <a:cs typeface="IBM Plex Sans" pitchFamily="34" charset="-120"/>
              </a:rPr>
              <a:t>Recurrent genes</a:t>
            </a:r>
            <a:endParaRPr lang="en-US" sz="1600" dirty="0"/>
          </a:p>
        </p:txBody>
      </p:sp>
      <p:sp>
        <p:nvSpPr>
          <p:cNvPr id="10" name="Text 8"/>
          <p:cNvSpPr/>
          <p:nvPr/>
        </p:nvSpPr>
        <p:spPr>
          <a:xfrm>
            <a:off x="6508750" y="2835870"/>
            <a:ext cx="469607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Significant in two or more cohorts, each with its direction recorded per cancer.</a:t>
            </a:r>
            <a:endParaRPr lang="en-US" sz="1200" dirty="0"/>
          </a:p>
        </p:txBody>
      </p:sp>
      <p:sp>
        <p:nvSpPr>
          <p:cNvPr id="11" name="Shape 9"/>
          <p:cNvSpPr/>
          <p:nvPr/>
        </p:nvSpPr>
        <p:spPr>
          <a:xfrm>
            <a:off x="815975" y="3780036"/>
            <a:ext cx="5175250" cy="1896021"/>
          </a:xfrm>
          <a:prstGeom prst="roundRect">
            <a:avLst>
              <a:gd name="adj" fmla="val 5191"/>
            </a:avLst>
          </a:prstGeom>
          <a:solidFill>
            <a:srgbClr val="FDFDFB"/>
          </a:solidFill>
          <a:ln w="6350">
            <a:solidFill>
              <a:srgbClr val="DDE0DC"/>
            </a:solidFill>
            <a:prstDash val="solid"/>
          </a:ln>
        </p:spPr>
      </p:sp>
      <p:sp>
        <p:nvSpPr>
          <p:cNvPr id="12" name="Text 10"/>
          <p:cNvSpPr/>
          <p:nvPr/>
        </p:nvSpPr>
        <p:spPr>
          <a:xfrm>
            <a:off x="1123950" y="4088011"/>
            <a:ext cx="4696079"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1F6F8B"/>
                </a:solidFill>
                <a:latin typeface="Source Serif 4" pitchFamily="18" charset="0"/>
                <a:ea typeface="Source Serif 4" pitchFamily="18" charset="-122"/>
                <a:cs typeface="Source Serif 4" pitchFamily="18" charset="-120"/>
              </a:rPr>
              <a:t>17</a:t>
            </a:r>
            <a:endParaRPr lang="en-US" sz="3600" dirty="0"/>
          </a:p>
        </p:txBody>
      </p:sp>
      <p:sp>
        <p:nvSpPr>
          <p:cNvPr id="13" name="Text 11"/>
          <p:cNvSpPr/>
          <p:nvPr/>
        </p:nvSpPr>
        <p:spPr>
          <a:xfrm>
            <a:off x="1123950" y="4621411"/>
            <a:ext cx="469607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41A1F"/>
                </a:solidFill>
                <a:latin typeface="IBM Plex Sans" pitchFamily="34" charset="0"/>
                <a:ea typeface="IBM Plex Sans" pitchFamily="34" charset="-122"/>
                <a:cs typeface="IBM Plex Sans" pitchFamily="34" charset="-120"/>
              </a:rPr>
              <a:t>Replicated cohorts</a:t>
            </a:r>
            <a:endParaRPr lang="en-US" sz="1600" dirty="0"/>
          </a:p>
        </p:txBody>
      </p:sp>
      <p:sp>
        <p:nvSpPr>
          <p:cNvPr id="14" name="Text 12"/>
          <p:cNvSpPr/>
          <p:nvPr/>
        </p:nvSpPr>
        <p:spPr>
          <a:xfrm>
            <a:off x="1123950" y="4941441"/>
            <a:ext cx="469607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13 transcriptome and 4 proteome cohorts clearing the replication rule.</a:t>
            </a:r>
            <a:endParaRPr lang="en-US" sz="1200" dirty="0"/>
          </a:p>
        </p:txBody>
      </p:sp>
      <p:sp>
        <p:nvSpPr>
          <p:cNvPr id="15" name="Shape 13"/>
          <p:cNvSpPr/>
          <p:nvPr/>
        </p:nvSpPr>
        <p:spPr>
          <a:xfrm>
            <a:off x="6200775" y="3780036"/>
            <a:ext cx="5175250" cy="1896021"/>
          </a:xfrm>
          <a:prstGeom prst="roundRect">
            <a:avLst>
              <a:gd name="adj" fmla="val 5191"/>
            </a:avLst>
          </a:prstGeom>
          <a:solidFill>
            <a:srgbClr val="FDFDFB"/>
          </a:solidFill>
          <a:ln w="6350">
            <a:solidFill>
              <a:srgbClr val="DDE0DC"/>
            </a:solidFill>
            <a:prstDash val="solid"/>
          </a:ln>
        </p:spPr>
      </p:sp>
      <p:sp>
        <p:nvSpPr>
          <p:cNvPr id="16" name="Text 14"/>
          <p:cNvSpPr/>
          <p:nvPr/>
        </p:nvSpPr>
        <p:spPr>
          <a:xfrm>
            <a:off x="6508750" y="4088011"/>
            <a:ext cx="4696079"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C2703D"/>
                </a:solidFill>
                <a:latin typeface="Source Serif 4" pitchFamily="18" charset="0"/>
                <a:ea typeface="Source Serif 4" pitchFamily="18" charset="-122"/>
                <a:cs typeface="Source Serif 4" pitchFamily="18" charset="-120"/>
              </a:rPr>
              <a:t>2</a:t>
            </a:r>
            <a:endParaRPr lang="en-US" sz="3600" dirty="0"/>
          </a:p>
        </p:txBody>
      </p:sp>
      <p:sp>
        <p:nvSpPr>
          <p:cNvPr id="17" name="Text 15"/>
          <p:cNvSpPr/>
          <p:nvPr/>
        </p:nvSpPr>
        <p:spPr>
          <a:xfrm>
            <a:off x="6508750" y="4621411"/>
            <a:ext cx="469607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41A1F"/>
                </a:solidFill>
                <a:latin typeface="IBM Plex Sans" pitchFamily="34" charset="0"/>
                <a:ea typeface="IBM Plex Sans" pitchFamily="34" charset="-122"/>
                <a:cs typeface="IBM Plex Sans" pitchFamily="34" charset="-120"/>
              </a:rPr>
              <a:t>Modalities, cross-checked</a:t>
            </a:r>
            <a:endParaRPr lang="en-US" sz="1600" dirty="0"/>
          </a:p>
        </p:txBody>
      </p:sp>
      <p:sp>
        <p:nvSpPr>
          <p:cNvPr id="18" name="Text 16"/>
          <p:cNvSpPr/>
          <p:nvPr/>
        </p:nvSpPr>
        <p:spPr>
          <a:xfrm>
            <a:off x="6508750" y="4941441"/>
            <a:ext cx="469607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RNA and antibody-based protein, letting one confirm or contradict the other.</a:t>
            </a:r>
            <a:endParaRPr lang="en-US" sz="1200" dirty="0"/>
          </a:p>
        </p:txBody>
      </p:sp>
      <p:sp>
        <p:nvSpPr>
          <p:cNvPr id="19" name="Text 17"/>
          <p:cNvSpPr/>
          <p:nvPr/>
        </p:nvSpPr>
        <p:spPr>
          <a:xfrm>
            <a:off x="812800" y="6238280"/>
            <a:ext cx="51307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38B"/>
                </a:solidFill>
                <a:latin typeface="IBM Plex Sans" pitchFamily="34" charset="0"/>
                <a:ea typeface="IBM Plex Sans" pitchFamily="34" charset="-122"/>
                <a:cs typeface="IBM Plex Sans" pitchFamily="34" charset="-120"/>
              </a:rPr>
              <a:t>TCGA · 34 cohorts entering the screen · primary recurrence set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A1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F7F7F4"/>
                </a:solidFill>
                <a:latin typeface="Source Serif 4" pitchFamily="18" charset="0"/>
                <a:ea typeface="Source Serif 4" pitchFamily="18" charset="-122"/>
                <a:cs typeface="Source Serif 4" pitchFamily="18" charset="-120"/>
              </a:rPr>
              <a:t>Every cohort is validated on held-out patients</a:t>
            </a:r>
            <a:endParaRPr lang="en-US" sz="3600" dirty="0"/>
          </a:p>
        </p:txBody>
      </p:sp>
      <p:sp>
        <p:nvSpPr>
          <p:cNvPr id="3" name="Text 1"/>
          <p:cNvSpPr/>
          <p:nvPr/>
        </p:nvSpPr>
        <p:spPr>
          <a:xfrm>
            <a:off x="812800" y="1620490"/>
            <a:ext cx="9156700" cy="61466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C3D0D4"/>
                </a:solidFill>
                <a:latin typeface="IBM Plex Sans" pitchFamily="34" charset="0"/>
                <a:ea typeface="IBM Plex Sans" pitchFamily="34" charset="-122"/>
                <a:cs typeface="IBM Plex Sans" pitchFamily="34" charset="-120"/>
              </a:rPr>
              <a:t>Every cohort is split 80 / 20 before any model is fitted. A cohort enters the primary set only if it clears all three gates. Cohorts that fail are reported, not dropped quietly.</a:t>
            </a:r>
            <a:endParaRPr lang="en-US" sz="1600" dirty="0"/>
          </a:p>
        </p:txBody>
      </p:sp>
      <p:sp>
        <p:nvSpPr>
          <p:cNvPr id="4" name="Shape 2"/>
          <p:cNvSpPr/>
          <p:nvPr/>
        </p:nvSpPr>
        <p:spPr>
          <a:xfrm>
            <a:off x="815975" y="2517725"/>
            <a:ext cx="3380284" cy="1743571"/>
          </a:xfrm>
          <a:prstGeom prst="roundRect">
            <a:avLst>
              <a:gd name="adj" fmla="val 5645"/>
            </a:avLst>
          </a:prstGeom>
          <a:solidFill>
            <a:srgbClr val="1C242B"/>
          </a:solidFill>
          <a:ln w="6350">
            <a:solidFill>
              <a:srgbClr val="2E3A42"/>
            </a:solidFill>
            <a:prstDash val="solid"/>
          </a:ln>
        </p:spPr>
      </p:sp>
      <p:sp>
        <p:nvSpPr>
          <p:cNvPr id="5" name="Text 3"/>
          <p:cNvSpPr/>
          <p:nvPr/>
        </p:nvSpPr>
        <p:spPr>
          <a:xfrm>
            <a:off x="1123950" y="2825700"/>
            <a:ext cx="284726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703D"/>
                </a:solidFill>
                <a:latin typeface="IBM Plex Sans" pitchFamily="34" charset="0"/>
                <a:ea typeface="IBM Plex Sans" pitchFamily="34" charset="-122"/>
                <a:cs typeface="IBM Plex Sans" pitchFamily="34" charset="-120"/>
              </a:rPr>
              <a:t>GATE ONE</a:t>
            </a:r>
            <a:endParaRPr lang="en-US" sz="1200" dirty="0"/>
          </a:p>
        </p:txBody>
      </p:sp>
      <p:sp>
        <p:nvSpPr>
          <p:cNvPr id="6" name="Text 4"/>
          <p:cNvSpPr/>
          <p:nvPr/>
        </p:nvSpPr>
        <p:spPr>
          <a:xfrm>
            <a:off x="1123950" y="3115221"/>
            <a:ext cx="2847264"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F7F7F4"/>
                </a:solidFill>
                <a:latin typeface="IBM Plex Sans" pitchFamily="34" charset="0"/>
                <a:ea typeface="IBM Plex Sans" pitchFamily="34" charset="-122"/>
                <a:cs typeface="IBM Plex Sans" pitchFamily="34" charset="-120"/>
              </a:rPr>
              <a:t>10 genes</a:t>
            </a:r>
            <a:endParaRPr lang="en-US" sz="2200" dirty="0"/>
          </a:p>
        </p:txBody>
      </p:sp>
      <p:sp>
        <p:nvSpPr>
          <p:cNvPr id="7" name="Text 5"/>
          <p:cNvSpPr/>
          <p:nvPr/>
        </p:nvSpPr>
        <p:spPr>
          <a:xfrm>
            <a:off x="1123950" y="3526681"/>
            <a:ext cx="284726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D0D4"/>
                </a:solidFill>
                <a:latin typeface="IBM Plex Sans" pitchFamily="34" charset="0"/>
                <a:ea typeface="IBM Plex Sans" pitchFamily="34" charset="-122"/>
                <a:cs typeface="IBM Plex Sans" pitchFamily="34" charset="-120"/>
              </a:rPr>
              <a:t>At least ten genes significant after correction within the cohort.</a:t>
            </a:r>
            <a:endParaRPr lang="en-US" sz="1200" dirty="0"/>
          </a:p>
        </p:txBody>
      </p:sp>
      <p:sp>
        <p:nvSpPr>
          <p:cNvPr id="8" name="Shape 6"/>
          <p:cNvSpPr/>
          <p:nvPr/>
        </p:nvSpPr>
        <p:spPr>
          <a:xfrm>
            <a:off x="4405809" y="2517725"/>
            <a:ext cx="3380333" cy="1743571"/>
          </a:xfrm>
          <a:prstGeom prst="roundRect">
            <a:avLst>
              <a:gd name="adj" fmla="val 5645"/>
            </a:avLst>
          </a:prstGeom>
          <a:solidFill>
            <a:srgbClr val="1C242B"/>
          </a:solidFill>
          <a:ln w="6350">
            <a:solidFill>
              <a:srgbClr val="2E3A42"/>
            </a:solidFill>
            <a:prstDash val="solid"/>
          </a:ln>
        </p:spPr>
      </p:sp>
      <p:sp>
        <p:nvSpPr>
          <p:cNvPr id="9" name="Text 7"/>
          <p:cNvSpPr/>
          <p:nvPr/>
        </p:nvSpPr>
        <p:spPr>
          <a:xfrm>
            <a:off x="4713784" y="2825700"/>
            <a:ext cx="2847315"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703D"/>
                </a:solidFill>
                <a:latin typeface="IBM Plex Sans" pitchFamily="34" charset="0"/>
                <a:ea typeface="IBM Plex Sans" pitchFamily="34" charset="-122"/>
                <a:cs typeface="IBM Plex Sans" pitchFamily="34" charset="-120"/>
              </a:rPr>
              <a:t>GATE TWO</a:t>
            </a:r>
            <a:endParaRPr lang="en-US" sz="1200" dirty="0"/>
          </a:p>
        </p:txBody>
      </p:sp>
      <p:sp>
        <p:nvSpPr>
          <p:cNvPr id="10" name="Text 8"/>
          <p:cNvSpPr/>
          <p:nvPr/>
        </p:nvSpPr>
        <p:spPr>
          <a:xfrm>
            <a:off x="4713784" y="3115221"/>
            <a:ext cx="2847315"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F7F7F4"/>
                </a:solidFill>
                <a:latin typeface="IBM Plex Sans" pitchFamily="34" charset="0"/>
                <a:ea typeface="IBM Plex Sans" pitchFamily="34" charset="-122"/>
                <a:cs typeface="IBM Plex Sans" pitchFamily="34" charset="-120"/>
              </a:rPr>
              <a:t>0.70 agreement</a:t>
            </a:r>
            <a:endParaRPr lang="en-US" sz="2200" dirty="0"/>
          </a:p>
        </p:txBody>
      </p:sp>
      <p:sp>
        <p:nvSpPr>
          <p:cNvPr id="11" name="Text 9"/>
          <p:cNvSpPr/>
          <p:nvPr/>
        </p:nvSpPr>
        <p:spPr>
          <a:xfrm>
            <a:off x="4713784" y="3526681"/>
            <a:ext cx="284731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D0D4"/>
                </a:solidFill>
                <a:latin typeface="IBM Plex Sans" pitchFamily="34" charset="0"/>
                <a:ea typeface="IBM Plex Sans" pitchFamily="34" charset="-122"/>
                <a:cs typeface="IBM Plex Sans" pitchFamily="34" charset="-120"/>
              </a:rPr>
              <a:t>Seven in ten significant genes keep their direction on held-out patients.</a:t>
            </a:r>
            <a:endParaRPr lang="en-US" sz="1200" dirty="0"/>
          </a:p>
        </p:txBody>
      </p:sp>
      <p:sp>
        <p:nvSpPr>
          <p:cNvPr id="12" name="Shape 10"/>
          <p:cNvSpPr/>
          <p:nvPr/>
        </p:nvSpPr>
        <p:spPr>
          <a:xfrm>
            <a:off x="7995692" y="2517725"/>
            <a:ext cx="3380333" cy="1743571"/>
          </a:xfrm>
          <a:prstGeom prst="roundRect">
            <a:avLst>
              <a:gd name="adj" fmla="val 5645"/>
            </a:avLst>
          </a:prstGeom>
          <a:solidFill>
            <a:srgbClr val="1C242B"/>
          </a:solidFill>
          <a:ln w="6350">
            <a:solidFill>
              <a:srgbClr val="2E3A42"/>
            </a:solidFill>
            <a:prstDash val="solid"/>
          </a:ln>
        </p:spPr>
      </p:sp>
      <p:sp>
        <p:nvSpPr>
          <p:cNvPr id="13" name="Text 11"/>
          <p:cNvSpPr/>
          <p:nvPr/>
        </p:nvSpPr>
        <p:spPr>
          <a:xfrm>
            <a:off x="8303667" y="2825700"/>
            <a:ext cx="2847315"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703D"/>
                </a:solidFill>
                <a:latin typeface="IBM Plex Sans" pitchFamily="34" charset="0"/>
                <a:ea typeface="IBM Plex Sans" pitchFamily="34" charset="-122"/>
                <a:cs typeface="IBM Plex Sans" pitchFamily="34" charset="-120"/>
              </a:rPr>
              <a:t>GATE THREE</a:t>
            </a:r>
            <a:endParaRPr lang="en-US" sz="1200" dirty="0"/>
          </a:p>
        </p:txBody>
      </p:sp>
      <p:sp>
        <p:nvSpPr>
          <p:cNvPr id="14" name="Text 12"/>
          <p:cNvSpPr/>
          <p:nvPr/>
        </p:nvSpPr>
        <p:spPr>
          <a:xfrm>
            <a:off x="8303667" y="3115221"/>
            <a:ext cx="2847315"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F7F7F4"/>
                </a:solidFill>
                <a:latin typeface="IBM Plex Sans" pitchFamily="34" charset="0"/>
                <a:ea typeface="IBM Plex Sans" pitchFamily="34" charset="-122"/>
                <a:cs typeface="IBM Plex Sans" pitchFamily="34" charset="-120"/>
              </a:rPr>
              <a:t>10 events</a:t>
            </a:r>
            <a:endParaRPr lang="en-US" sz="2200" dirty="0"/>
          </a:p>
        </p:txBody>
      </p:sp>
      <p:sp>
        <p:nvSpPr>
          <p:cNvPr id="15" name="Text 13"/>
          <p:cNvSpPr/>
          <p:nvPr/>
        </p:nvSpPr>
        <p:spPr>
          <a:xfrm>
            <a:off x="8303667" y="3526681"/>
            <a:ext cx="284731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D0D4"/>
                </a:solidFill>
                <a:latin typeface="IBM Plex Sans" pitchFamily="34" charset="0"/>
                <a:ea typeface="IBM Plex Sans" pitchFamily="34" charset="-122"/>
                <a:cs typeface="IBM Plex Sans" pitchFamily="34" charset="-120"/>
              </a:rPr>
              <a:t>At least ten events in the test split, so agreement is not an artefact of size.</a:t>
            </a:r>
            <a:endParaRPr lang="en-US" sz="1200" dirty="0"/>
          </a:p>
        </p:txBody>
      </p:sp>
      <p:sp>
        <p:nvSpPr>
          <p:cNvPr id="16" name="Text 14"/>
          <p:cNvSpPr/>
          <p:nvPr/>
        </p:nvSpPr>
        <p:spPr>
          <a:xfrm>
            <a:off x="812800" y="4569271"/>
            <a:ext cx="9156700" cy="61466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C3D0D4"/>
                </a:solidFill>
                <a:latin typeface="IBM Plex Sans" pitchFamily="34" charset="0"/>
                <a:ea typeface="IBM Plex Sans" pitchFamily="34" charset="-122"/>
                <a:cs typeface="IBM Plex Sans" pitchFamily="34" charset="-120"/>
              </a:rPr>
              <a:t>Of the cohorts screened, 17 qualified. Three are flagged underpowered, six exploratory, and the rest carry minimal signal — each labelled rather than removed.</a:t>
            </a:r>
            <a:endParaRPr lang="en-US" sz="1600" dirty="0"/>
          </a:p>
        </p:txBody>
      </p:sp>
      <p:sp>
        <p:nvSpPr>
          <p:cNvPr id="17" name="Text 15"/>
          <p:cNvSpPr/>
          <p:nvPr/>
        </p:nvSpPr>
        <p:spPr>
          <a:xfrm>
            <a:off x="812800" y="6238280"/>
            <a:ext cx="48231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59B"/>
                </a:solidFill>
                <a:latin typeface="IBM Plex Sans" pitchFamily="34" charset="0"/>
                <a:ea typeface="IBM Plex Sans" pitchFamily="34" charset="-122"/>
                <a:cs typeface="IBM Plex Sans" pitchFamily="34" charset="-120"/>
              </a:rPr>
              <a:t>Tier rule applied uniformly across RNA and RPPA platforms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1282363" cy="997893"/>
          </a:xfrm>
          <a:prstGeom prst="rect">
            <a:avLst/>
          </a:prstGeom>
          <a:noFill/>
          <a:ln/>
        </p:spPr>
        <p:txBody>
          <a:bodyPr wrap="square" lIns="0" tIns="0" rIns="0" bIns="0" rtlCol="0" anchor="t">
            <a:normAutofit/>
          </a:bodyPr>
          <a:lstStyle/>
          <a:p>
            <a:pPr algn="l" indent="0" marL="0">
              <a:lnSpc>
                <a:spcPts val="3836"/>
              </a:lnSpc>
              <a:buNone/>
            </a:pPr>
            <a:r>
              <a:rPr lang="en-US" sz="3488" b="0" i="0" dirty="0">
                <a:solidFill>
                  <a:srgbClr val="141A1F"/>
                </a:solidFill>
                <a:latin typeface="Source Serif 4" pitchFamily="18" charset="0"/>
                <a:ea typeface="Source Serif 4" pitchFamily="18" charset="-122"/>
                <a:cs typeface="Source Serif 4" pitchFamily="18" charset="-120"/>
              </a:rPr>
              <a:t>High proliferation predicts worse survival in every cancer</a:t>
            </a:r>
            <a:endParaRPr lang="en-US" sz="3488" dirty="0"/>
          </a:p>
        </p:txBody>
      </p:sp>
      <p:sp>
        <p:nvSpPr>
          <p:cNvPr id="3" name="Text 1"/>
          <p:cNvSpPr/>
          <p:nvPr/>
        </p:nvSpPr>
        <p:spPr>
          <a:xfrm>
            <a:off x="812800" y="2039293"/>
            <a:ext cx="9156700" cy="575518"/>
          </a:xfrm>
          <a:prstGeom prst="rect">
            <a:avLst/>
          </a:prstGeom>
          <a:noFill/>
          <a:ln/>
        </p:spPr>
        <p:txBody>
          <a:bodyPr wrap="square" lIns="0" tIns="0" rIns="0" bIns="0" rtlCol="0" anchor="t">
            <a:normAutofit/>
          </a:bodyPr>
          <a:lstStyle/>
          <a:p>
            <a:pPr algn="l" indent="0" marL="0">
              <a:lnSpc>
                <a:spcPts val="2184"/>
              </a:lnSpc>
              <a:buNone/>
            </a:pPr>
            <a:r>
              <a:rPr lang="en-US" sz="1560" dirty="0">
                <a:solidFill>
                  <a:srgbClr val="4A5560"/>
                </a:solidFill>
                <a:latin typeface="IBM Plex Sans" pitchFamily="34" charset="0"/>
                <a:ea typeface="IBM Plex Sans" pitchFamily="34" charset="-122"/>
                <a:cs typeface="IBM Plex Sans" pitchFamily="34" charset="-120"/>
              </a:rPr>
              <a:t>One coherent axis: the mitotic spindle and checkpoint, the G2/M driver FOXM1, the anti-apoptotic BIRC5, and nucleotide supply for replication.</a:t>
            </a:r>
            <a:endParaRPr lang="en-US" sz="156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856111"/>
          <a:ext cx="10553700" cy="2985889"/>
        </p:xfrm>
        <a:graphic>
          <a:graphicData uri="http://schemas.openxmlformats.org/drawingml/2006/table">
            <a:tbl>
              <a:tblPr/>
              <a:tblGrid>
                <a:gridCol w="1688592"/>
                <a:gridCol w="4854702"/>
                <a:gridCol w="1899666"/>
                <a:gridCol w="2110740"/>
              </a:tblGrid>
              <a:tr h="373211">
                <a:tc>
                  <a:txBody>
                    <a:bodyPr/>
                    <a:lstStyle/>
                    <a:p>
                      <a:pPr indent="0" marL="0">
                        <a:lnSpc>
                          <a:spcPts val="1893"/>
                        </a:lnSpc>
                        <a:buNone/>
                      </a:pPr>
                      <a:r>
                        <a:rPr lang="en-US" sz="1352" b="1" dirty="0">
                          <a:solidFill>
                            <a:srgbClr val="141A1F"/>
                          </a:solidFill>
                          <a:latin typeface="IBM Plex Sans" pitchFamily="34" charset="0"/>
                          <a:ea typeface="IBM Plex Sans" pitchFamily="34" charset="-122"/>
                          <a:cs typeface="IBM Plex Sans" pitchFamily="34" charset="-120"/>
                        </a:rPr>
                        <a:t>Gene</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C5C5C3"/>
                      </a:solidFill>
                      <a:prstDash val="solid"/>
                      <a:round/>
                      <a:headEnd type="none" w="med" len="med"/>
                      <a:tailEnd type="none" w="med" len="med"/>
                    </a:lnL>
                    <a:lnR w="12700" cap="flat" cmpd="sng" algn="ctr">
                      <a:solidFill>
                        <a:srgbClr val="B7B7B4"/>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7B7B4"/>
                      </a:solidFill>
                      <a:prstDash val="solid"/>
                      <a:round/>
                      <a:headEnd type="none" w="med" len="med"/>
                      <a:tailEnd type="none" w="med" len="med"/>
                    </a:lnB>
                    <a:solidFill>
                      <a:srgbClr val="E5E5E2"/>
                    </a:solidFill>
                  </a:tcPr>
                </a:tc>
                <a:tc>
                  <a:txBody>
                    <a:bodyPr/>
                    <a:lstStyle/>
                    <a:p>
                      <a:pPr indent="0" marL="0">
                        <a:lnSpc>
                          <a:spcPts val="1893"/>
                        </a:lnSpc>
                        <a:buNone/>
                      </a:pPr>
                      <a:r>
                        <a:rPr lang="en-US" sz="1352" b="1" dirty="0">
                          <a:solidFill>
                            <a:srgbClr val="141A1F"/>
                          </a:solidFill>
                          <a:latin typeface="IBM Plex Sans" pitchFamily="34" charset="0"/>
                          <a:ea typeface="IBM Plex Sans" pitchFamily="34" charset="-122"/>
                          <a:cs typeface="IBM Plex Sans" pitchFamily="34" charset="-120"/>
                        </a:rPr>
                        <a:t>Role</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B7B7B4"/>
                      </a:solidFill>
                      <a:prstDash val="solid"/>
                      <a:round/>
                      <a:headEnd type="none" w="med" len="med"/>
                      <a:tailEnd type="none" w="med" len="med"/>
                    </a:lnL>
                    <a:lnR w="12700" cap="flat" cmpd="sng" algn="ctr">
                      <a:solidFill>
                        <a:srgbClr val="B7B7B4"/>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7B7B4"/>
                      </a:solidFill>
                      <a:prstDash val="solid"/>
                      <a:round/>
                      <a:headEnd type="none" w="med" len="med"/>
                      <a:tailEnd type="none" w="med" len="med"/>
                    </a:lnB>
                    <a:solidFill>
                      <a:srgbClr val="E5E5E2"/>
                    </a:solidFill>
                  </a:tcPr>
                </a:tc>
                <a:tc>
                  <a:txBody>
                    <a:bodyPr/>
                    <a:lstStyle/>
                    <a:p>
                      <a:pPr algn="r" indent="0" marL="0">
                        <a:lnSpc>
                          <a:spcPts val="1893"/>
                        </a:lnSpc>
                        <a:buNone/>
                      </a:pPr>
                      <a:r>
                        <a:rPr lang="en-US" sz="1352" b="1" dirty="0">
                          <a:solidFill>
                            <a:srgbClr val="141A1F"/>
                          </a:solidFill>
                          <a:latin typeface="IBM Plex Sans" pitchFamily="34" charset="0"/>
                          <a:ea typeface="IBM Plex Sans" pitchFamily="34" charset="-122"/>
                          <a:cs typeface="IBM Plex Sans" pitchFamily="34" charset="-120"/>
                        </a:rPr>
                        <a:t>Cohorts</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B7B7B4"/>
                      </a:solidFill>
                      <a:prstDash val="solid"/>
                      <a:round/>
                      <a:headEnd type="none" w="med" len="med"/>
                      <a:tailEnd type="none" w="med" len="med"/>
                    </a:lnL>
                    <a:lnR w="12700" cap="flat" cmpd="sng" algn="ctr">
                      <a:solidFill>
                        <a:srgbClr val="B7B7B4"/>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7B7B4"/>
                      </a:solidFill>
                      <a:prstDash val="solid"/>
                      <a:round/>
                      <a:headEnd type="none" w="med" len="med"/>
                      <a:tailEnd type="none" w="med" len="med"/>
                    </a:lnB>
                    <a:solidFill>
                      <a:srgbClr val="E5E5E2"/>
                    </a:solidFill>
                  </a:tcPr>
                </a:tc>
                <a:tc>
                  <a:txBody>
                    <a:bodyPr/>
                    <a:lstStyle/>
                    <a:p>
                      <a:pPr algn="r" indent="0" marL="0">
                        <a:lnSpc>
                          <a:spcPts val="1893"/>
                        </a:lnSpc>
                        <a:buNone/>
                      </a:pPr>
                      <a:r>
                        <a:rPr lang="en-US" sz="1352" b="1" dirty="0">
                          <a:solidFill>
                            <a:srgbClr val="141A1F"/>
                          </a:solidFill>
                          <a:latin typeface="IBM Plex Sans" pitchFamily="34" charset="0"/>
                          <a:ea typeface="IBM Plex Sans" pitchFamily="34" charset="-122"/>
                          <a:cs typeface="IBM Plex Sans" pitchFamily="34" charset="-120"/>
                        </a:rPr>
                        <a:t>Median HR per SD</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B7B7B4"/>
                      </a:solidFill>
                      <a:prstDash val="solid"/>
                      <a:round/>
                      <a:headEnd type="none" w="med" len="med"/>
                      <a:tailEnd type="none" w="med" len="med"/>
                    </a:lnL>
                    <a:lnR w="12700" cap="flat" cmpd="sng" algn="ctr">
                      <a:solidFill>
                        <a:srgbClr val="B7B7B4"/>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7B7B4"/>
                      </a:solidFill>
                      <a:prstDash val="solid"/>
                      <a:round/>
                      <a:headEnd type="none" w="med" len="med"/>
                      <a:tailEnd type="none" w="med" len="med"/>
                    </a:lnB>
                    <a:solidFill>
                      <a:srgbClr val="E5E5E2"/>
                    </a:solidFill>
                  </a:tcPr>
                </a:tc>
              </a:tr>
              <a:tr h="373211">
                <a:tc>
                  <a:txBody>
                    <a:bodyPr/>
                    <a:lstStyle/>
                    <a:p>
                      <a:pPr indent="0" marL="0">
                        <a:lnSpc>
                          <a:spcPts val="1893"/>
                        </a:lnSpc>
                        <a:buNone/>
                      </a:pPr>
                      <a:r>
                        <a:rPr lang="en-US" sz="1352" dirty="0">
                          <a:solidFill>
                            <a:srgbClr val="141A1F"/>
                          </a:solidFill>
                          <a:latin typeface="IBM Plex Sans" pitchFamily="34" charset="0"/>
                          <a:ea typeface="IBM Plex Sans" pitchFamily="34" charset="-122"/>
                          <a:cs typeface="IBM Plex Sans" pitchFamily="34" charset="-120"/>
                        </a:rPr>
                        <a:t>TPX2</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7B7B4"/>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893"/>
                        </a:lnSpc>
                        <a:buNone/>
                      </a:pPr>
                      <a:r>
                        <a:rPr lang="en-US" sz="1352" dirty="0">
                          <a:solidFill>
                            <a:srgbClr val="141A1F"/>
                          </a:solidFill>
                          <a:latin typeface="IBM Plex Sans" pitchFamily="34" charset="0"/>
                          <a:ea typeface="IBM Plex Sans" pitchFamily="34" charset="-122"/>
                          <a:cs typeface="IBM Plex Sans" pitchFamily="34" charset="-120"/>
                        </a:rPr>
                        <a:t>Spindle assembly, activates Aurora A</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7B7B4"/>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algn="r" indent="0" marL="0">
                        <a:lnSpc>
                          <a:spcPts val="1893"/>
                        </a:lnSpc>
                        <a:buNone/>
                      </a:pPr>
                      <a:r>
                        <a:rPr lang="en-US" sz="1352" dirty="0">
                          <a:solidFill>
                            <a:srgbClr val="141A1F"/>
                          </a:solidFill>
                          <a:latin typeface="IBM Plex Sans" pitchFamily="34" charset="0"/>
                          <a:ea typeface="IBM Plex Sans" pitchFamily="34" charset="-122"/>
                          <a:cs typeface="IBM Plex Sans" pitchFamily="34" charset="-120"/>
                        </a:rPr>
                        <a:t>9 of 9</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7B7B4"/>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algn="r" indent="0" marL="0">
                        <a:lnSpc>
                          <a:spcPts val="1893"/>
                        </a:lnSpc>
                        <a:buNone/>
                      </a:pPr>
                      <a:r>
                        <a:rPr lang="en-US" sz="1352" dirty="0">
                          <a:solidFill>
                            <a:srgbClr val="141A1F"/>
                          </a:solidFill>
                          <a:latin typeface="IBM Plex Sans" pitchFamily="34" charset="0"/>
                          <a:ea typeface="IBM Plex Sans" pitchFamily="34" charset="-122"/>
                          <a:cs typeface="IBM Plex Sans" pitchFamily="34" charset="-120"/>
                        </a:rPr>
                        <a:t>1.64</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7B7B4"/>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r h="373211">
                <a:tc>
                  <a:txBody>
                    <a:bodyPr/>
                    <a:lstStyle/>
                    <a:p>
                      <a:pPr indent="0" marL="0">
                        <a:lnSpc>
                          <a:spcPts val="1893"/>
                        </a:lnSpc>
                        <a:buNone/>
                      </a:pPr>
                      <a:r>
                        <a:rPr lang="en-US" sz="1352" dirty="0">
                          <a:solidFill>
                            <a:srgbClr val="141A1F"/>
                          </a:solidFill>
                          <a:latin typeface="IBM Plex Sans" pitchFamily="34" charset="0"/>
                          <a:ea typeface="IBM Plex Sans" pitchFamily="34" charset="-122"/>
                          <a:cs typeface="IBM Plex Sans" pitchFamily="34" charset="-120"/>
                        </a:rPr>
                        <a:t>UBE2C</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893"/>
                        </a:lnSpc>
                        <a:buNone/>
                      </a:pPr>
                      <a:r>
                        <a:rPr lang="en-US" sz="1352" dirty="0">
                          <a:solidFill>
                            <a:srgbClr val="141A1F"/>
                          </a:solidFill>
                          <a:latin typeface="IBM Plex Sans" pitchFamily="34" charset="0"/>
                          <a:ea typeface="IBM Plex Sans" pitchFamily="34" charset="-122"/>
                          <a:cs typeface="IBM Plex Sans" pitchFamily="34" charset="-120"/>
                        </a:rPr>
                        <a:t>APC/C ubiquitin ligase, mitotic exit</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algn="r" indent="0" marL="0">
                        <a:lnSpc>
                          <a:spcPts val="1893"/>
                        </a:lnSpc>
                        <a:buNone/>
                      </a:pPr>
                      <a:r>
                        <a:rPr lang="en-US" sz="1352" dirty="0">
                          <a:solidFill>
                            <a:srgbClr val="141A1F"/>
                          </a:solidFill>
                          <a:latin typeface="IBM Plex Sans" pitchFamily="34" charset="0"/>
                          <a:ea typeface="IBM Plex Sans" pitchFamily="34" charset="-122"/>
                          <a:cs typeface="IBM Plex Sans" pitchFamily="34" charset="-120"/>
                        </a:rPr>
                        <a:t>8 of 8</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algn="r" indent="0" marL="0">
                        <a:lnSpc>
                          <a:spcPts val="1893"/>
                        </a:lnSpc>
                        <a:buNone/>
                      </a:pPr>
                      <a:r>
                        <a:rPr lang="en-US" sz="1352" dirty="0">
                          <a:solidFill>
                            <a:srgbClr val="141A1F"/>
                          </a:solidFill>
                          <a:latin typeface="IBM Plex Sans" pitchFamily="34" charset="0"/>
                          <a:ea typeface="IBM Plex Sans" pitchFamily="34" charset="-122"/>
                          <a:cs typeface="IBM Plex Sans" pitchFamily="34" charset="-120"/>
                        </a:rPr>
                        <a:t>1.56</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r h="373211">
                <a:tc>
                  <a:txBody>
                    <a:bodyPr/>
                    <a:lstStyle/>
                    <a:p>
                      <a:pPr indent="0" marL="0">
                        <a:lnSpc>
                          <a:spcPts val="1893"/>
                        </a:lnSpc>
                        <a:buNone/>
                      </a:pPr>
                      <a:r>
                        <a:rPr lang="en-US" sz="1352" dirty="0">
                          <a:solidFill>
                            <a:srgbClr val="141A1F"/>
                          </a:solidFill>
                          <a:latin typeface="IBM Plex Sans" pitchFamily="34" charset="0"/>
                          <a:ea typeface="IBM Plex Sans" pitchFamily="34" charset="-122"/>
                          <a:cs typeface="IBM Plex Sans" pitchFamily="34" charset="-120"/>
                        </a:rPr>
                        <a:t>KIF20A</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893"/>
                        </a:lnSpc>
                        <a:buNone/>
                      </a:pPr>
                      <a:r>
                        <a:rPr lang="en-US" sz="1352" dirty="0">
                          <a:solidFill>
                            <a:srgbClr val="141A1F"/>
                          </a:solidFill>
                          <a:latin typeface="IBM Plex Sans" pitchFamily="34" charset="0"/>
                          <a:ea typeface="IBM Plex Sans" pitchFamily="34" charset="-122"/>
                          <a:cs typeface="IBM Plex Sans" pitchFamily="34" charset="-120"/>
                        </a:rPr>
                        <a:t>Mitotic kinesin, cytokinesis</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algn="r" indent="0" marL="0">
                        <a:lnSpc>
                          <a:spcPts val="1893"/>
                        </a:lnSpc>
                        <a:buNone/>
                      </a:pPr>
                      <a:r>
                        <a:rPr lang="en-US" sz="1352" dirty="0">
                          <a:solidFill>
                            <a:srgbClr val="141A1F"/>
                          </a:solidFill>
                          <a:latin typeface="IBM Plex Sans" pitchFamily="34" charset="0"/>
                          <a:ea typeface="IBM Plex Sans" pitchFamily="34" charset="-122"/>
                          <a:cs typeface="IBM Plex Sans" pitchFamily="34" charset="-120"/>
                        </a:rPr>
                        <a:t>8 of 8</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algn="r" indent="0" marL="0">
                        <a:lnSpc>
                          <a:spcPts val="1893"/>
                        </a:lnSpc>
                        <a:buNone/>
                      </a:pPr>
                      <a:r>
                        <a:rPr lang="en-US" sz="1352" dirty="0">
                          <a:solidFill>
                            <a:srgbClr val="141A1F"/>
                          </a:solidFill>
                          <a:latin typeface="IBM Plex Sans" pitchFamily="34" charset="0"/>
                          <a:ea typeface="IBM Plex Sans" pitchFamily="34" charset="-122"/>
                          <a:cs typeface="IBM Plex Sans" pitchFamily="34" charset="-120"/>
                        </a:rPr>
                        <a:t>1.56</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r h="373261">
                <a:tc>
                  <a:txBody>
                    <a:bodyPr/>
                    <a:lstStyle/>
                    <a:p>
                      <a:pPr indent="0" marL="0">
                        <a:lnSpc>
                          <a:spcPts val="1893"/>
                        </a:lnSpc>
                        <a:buNone/>
                      </a:pPr>
                      <a:r>
                        <a:rPr lang="en-US" sz="1352" dirty="0">
                          <a:solidFill>
                            <a:srgbClr val="141A1F"/>
                          </a:solidFill>
                          <a:latin typeface="IBM Plex Sans" pitchFamily="34" charset="0"/>
                          <a:ea typeface="IBM Plex Sans" pitchFamily="34" charset="-122"/>
                          <a:cs typeface="IBM Plex Sans" pitchFamily="34" charset="-120"/>
                        </a:rPr>
                        <a:t>AURKB</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893"/>
                        </a:lnSpc>
                        <a:buNone/>
                      </a:pPr>
                      <a:r>
                        <a:rPr lang="en-US" sz="1352" dirty="0">
                          <a:solidFill>
                            <a:srgbClr val="141A1F"/>
                          </a:solidFill>
                          <a:latin typeface="IBM Plex Sans" pitchFamily="34" charset="0"/>
                          <a:ea typeface="IBM Plex Sans" pitchFamily="34" charset="-122"/>
                          <a:cs typeface="IBM Plex Sans" pitchFamily="34" charset="-120"/>
                        </a:rPr>
                        <a:t>Chromosome passenger kinase</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algn="r" indent="0" marL="0">
                        <a:lnSpc>
                          <a:spcPts val="1893"/>
                        </a:lnSpc>
                        <a:buNone/>
                      </a:pPr>
                      <a:r>
                        <a:rPr lang="en-US" sz="1352" dirty="0">
                          <a:solidFill>
                            <a:srgbClr val="141A1F"/>
                          </a:solidFill>
                          <a:latin typeface="IBM Plex Sans" pitchFamily="34" charset="0"/>
                          <a:ea typeface="IBM Plex Sans" pitchFamily="34" charset="-122"/>
                          <a:cs typeface="IBM Plex Sans" pitchFamily="34" charset="-120"/>
                        </a:rPr>
                        <a:t>8 of 8</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algn="r" indent="0" marL="0">
                        <a:lnSpc>
                          <a:spcPts val="1893"/>
                        </a:lnSpc>
                        <a:buNone/>
                      </a:pPr>
                      <a:r>
                        <a:rPr lang="en-US" sz="1352" dirty="0">
                          <a:solidFill>
                            <a:srgbClr val="141A1F"/>
                          </a:solidFill>
                          <a:latin typeface="IBM Plex Sans" pitchFamily="34" charset="0"/>
                          <a:ea typeface="IBM Plex Sans" pitchFamily="34" charset="-122"/>
                          <a:cs typeface="IBM Plex Sans" pitchFamily="34" charset="-120"/>
                        </a:rPr>
                        <a:t>1.47</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r h="373261">
                <a:tc>
                  <a:txBody>
                    <a:bodyPr/>
                    <a:lstStyle/>
                    <a:p>
                      <a:pPr indent="0" marL="0">
                        <a:lnSpc>
                          <a:spcPts val="1893"/>
                        </a:lnSpc>
                        <a:buNone/>
                      </a:pPr>
                      <a:r>
                        <a:rPr lang="en-US" sz="1352" dirty="0">
                          <a:solidFill>
                            <a:srgbClr val="141A1F"/>
                          </a:solidFill>
                          <a:latin typeface="IBM Plex Sans" pitchFamily="34" charset="0"/>
                          <a:ea typeface="IBM Plex Sans" pitchFamily="34" charset="-122"/>
                          <a:cs typeface="IBM Plex Sans" pitchFamily="34" charset="-120"/>
                        </a:rPr>
                        <a:t>CDC20</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893"/>
                        </a:lnSpc>
                        <a:buNone/>
                      </a:pPr>
                      <a:r>
                        <a:rPr lang="en-US" sz="1352" dirty="0">
                          <a:solidFill>
                            <a:srgbClr val="141A1F"/>
                          </a:solidFill>
                          <a:latin typeface="IBM Plex Sans" pitchFamily="34" charset="0"/>
                          <a:ea typeface="IBM Plex Sans" pitchFamily="34" charset="-122"/>
                          <a:cs typeface="IBM Plex Sans" pitchFamily="34" charset="-120"/>
                        </a:rPr>
                        <a:t>APC/C activator, spindle checkpoint</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algn="r" indent="0" marL="0">
                        <a:lnSpc>
                          <a:spcPts val="1893"/>
                        </a:lnSpc>
                        <a:buNone/>
                      </a:pPr>
                      <a:r>
                        <a:rPr lang="en-US" sz="1352" dirty="0">
                          <a:solidFill>
                            <a:srgbClr val="141A1F"/>
                          </a:solidFill>
                          <a:latin typeface="IBM Plex Sans" pitchFamily="34" charset="0"/>
                          <a:ea typeface="IBM Plex Sans" pitchFamily="34" charset="-122"/>
                          <a:cs typeface="IBM Plex Sans" pitchFamily="34" charset="-120"/>
                        </a:rPr>
                        <a:t>7 of 7</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algn="r" indent="0" marL="0">
                        <a:lnSpc>
                          <a:spcPts val="1893"/>
                        </a:lnSpc>
                        <a:buNone/>
                      </a:pPr>
                      <a:r>
                        <a:rPr lang="en-US" sz="1352" dirty="0">
                          <a:solidFill>
                            <a:srgbClr val="141A1F"/>
                          </a:solidFill>
                          <a:latin typeface="IBM Plex Sans" pitchFamily="34" charset="0"/>
                          <a:ea typeface="IBM Plex Sans" pitchFamily="34" charset="-122"/>
                          <a:cs typeface="IBM Plex Sans" pitchFamily="34" charset="-120"/>
                        </a:rPr>
                        <a:t>1.61</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r h="373261">
                <a:tc>
                  <a:txBody>
                    <a:bodyPr/>
                    <a:lstStyle/>
                    <a:p>
                      <a:pPr indent="0" marL="0">
                        <a:lnSpc>
                          <a:spcPts val="1893"/>
                        </a:lnSpc>
                        <a:buNone/>
                      </a:pPr>
                      <a:r>
                        <a:rPr lang="en-US" sz="1352" dirty="0">
                          <a:solidFill>
                            <a:srgbClr val="141A1F"/>
                          </a:solidFill>
                          <a:latin typeface="IBM Plex Sans" pitchFamily="34" charset="0"/>
                          <a:ea typeface="IBM Plex Sans" pitchFamily="34" charset="-122"/>
                          <a:cs typeface="IBM Plex Sans" pitchFamily="34" charset="-120"/>
                        </a:rPr>
                        <a:t>CEP55</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893"/>
                        </a:lnSpc>
                        <a:buNone/>
                      </a:pPr>
                      <a:r>
                        <a:rPr lang="en-US" sz="1352" dirty="0">
                          <a:solidFill>
                            <a:srgbClr val="141A1F"/>
                          </a:solidFill>
                          <a:latin typeface="IBM Plex Sans" pitchFamily="34" charset="0"/>
                          <a:ea typeface="IBM Plex Sans" pitchFamily="34" charset="-122"/>
                          <a:cs typeface="IBM Plex Sans" pitchFamily="34" charset="-120"/>
                        </a:rPr>
                        <a:t>Cytokinesis, abscission</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algn="r" indent="0" marL="0">
                        <a:lnSpc>
                          <a:spcPts val="1893"/>
                        </a:lnSpc>
                        <a:buNone/>
                      </a:pPr>
                      <a:r>
                        <a:rPr lang="en-US" sz="1352" dirty="0">
                          <a:solidFill>
                            <a:srgbClr val="141A1F"/>
                          </a:solidFill>
                          <a:latin typeface="IBM Plex Sans" pitchFamily="34" charset="0"/>
                          <a:ea typeface="IBM Plex Sans" pitchFamily="34" charset="-122"/>
                          <a:cs typeface="IBM Plex Sans" pitchFamily="34" charset="-120"/>
                        </a:rPr>
                        <a:t>7 of 7</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algn="r" indent="0" marL="0">
                        <a:lnSpc>
                          <a:spcPts val="1893"/>
                        </a:lnSpc>
                        <a:buNone/>
                      </a:pPr>
                      <a:r>
                        <a:rPr lang="en-US" sz="1352" dirty="0">
                          <a:solidFill>
                            <a:srgbClr val="141A1F"/>
                          </a:solidFill>
                          <a:latin typeface="IBM Plex Sans" pitchFamily="34" charset="0"/>
                          <a:ea typeface="IBM Plex Sans" pitchFamily="34" charset="-122"/>
                          <a:cs typeface="IBM Plex Sans" pitchFamily="34" charset="-120"/>
                        </a:rPr>
                        <a:t>1.53</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r h="373261">
                <a:tc>
                  <a:txBody>
                    <a:bodyPr/>
                    <a:lstStyle/>
                    <a:p>
                      <a:pPr indent="0" marL="0">
                        <a:lnSpc>
                          <a:spcPts val="1893"/>
                        </a:lnSpc>
                        <a:buNone/>
                      </a:pPr>
                      <a:r>
                        <a:rPr lang="en-US" sz="1352" dirty="0">
                          <a:solidFill>
                            <a:srgbClr val="141A1F"/>
                          </a:solidFill>
                          <a:latin typeface="IBM Plex Sans" pitchFamily="34" charset="0"/>
                          <a:ea typeface="IBM Plex Sans" pitchFamily="34" charset="-122"/>
                          <a:cs typeface="IBM Plex Sans" pitchFamily="34" charset="-120"/>
                        </a:rPr>
                        <a:t>MKI67</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893"/>
                        </a:lnSpc>
                        <a:buNone/>
                      </a:pPr>
                      <a:r>
                        <a:rPr lang="en-US" sz="1352" dirty="0">
                          <a:solidFill>
                            <a:srgbClr val="141A1F"/>
                          </a:solidFill>
                          <a:latin typeface="IBM Plex Sans" pitchFamily="34" charset="0"/>
                          <a:ea typeface="IBM Plex Sans" pitchFamily="34" charset="-122"/>
                          <a:cs typeface="IBM Plex Sans" pitchFamily="34" charset="-120"/>
                        </a:rPr>
                        <a:t>Proliferation marker, Ki-67</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algn="r" indent="0" marL="0">
                        <a:lnSpc>
                          <a:spcPts val="1893"/>
                        </a:lnSpc>
                        <a:buNone/>
                      </a:pPr>
                      <a:r>
                        <a:rPr lang="en-US" sz="1352" dirty="0">
                          <a:solidFill>
                            <a:srgbClr val="141A1F"/>
                          </a:solidFill>
                          <a:latin typeface="IBM Plex Sans" pitchFamily="34" charset="0"/>
                          <a:ea typeface="IBM Plex Sans" pitchFamily="34" charset="-122"/>
                          <a:cs typeface="IBM Plex Sans" pitchFamily="34" charset="-120"/>
                        </a:rPr>
                        <a:t>7 of 7</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algn="r" indent="0" marL="0">
                        <a:lnSpc>
                          <a:spcPts val="1893"/>
                        </a:lnSpc>
                        <a:buNone/>
                      </a:pPr>
                      <a:r>
                        <a:rPr lang="en-US" sz="1352" dirty="0">
                          <a:solidFill>
                            <a:srgbClr val="141A1F"/>
                          </a:solidFill>
                          <a:latin typeface="IBM Plex Sans" pitchFamily="34" charset="0"/>
                          <a:ea typeface="IBM Plex Sans" pitchFamily="34" charset="-122"/>
                          <a:cs typeface="IBM Plex Sans" pitchFamily="34" charset="-120"/>
                        </a:rPr>
                        <a:t>1.47</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bl>
          </a:graphicData>
        </a:graphic>
      </p:graphicFrame>
      <p:sp>
        <p:nvSpPr>
          <p:cNvPr id="5" name="Text 2"/>
          <p:cNvSpPr/>
          <p:nvPr/>
        </p:nvSpPr>
        <p:spPr>
          <a:xfrm>
            <a:off x="812800" y="6238280"/>
            <a:ext cx="91681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38B"/>
                </a:solidFill>
                <a:latin typeface="IBM Plex Sans" pitchFamily="34" charset="0"/>
                <a:ea typeface="IBM Plex Sans" pitchFamily="34" charset="-122"/>
                <a:cs typeface="IBM Plex Sans" pitchFamily="34" charset="-120"/>
              </a:rPr>
              <a:t>Cohorts significant of cohorts replicating on held-out patients · hazard ratio per standard deviation of expression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1379200" cy="52829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1A1F"/>
                </a:solidFill>
                <a:latin typeface="Source Serif 4" pitchFamily="18" charset="0"/>
                <a:ea typeface="Source Serif 4" pitchFamily="18" charset="-122"/>
                <a:cs typeface="Source Serif 4" pitchFamily="18" charset="-120"/>
              </a:rPr>
              <a:t>Retained tissue identity predicts better survival</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82390"/>
          <a:ext cx="5579021" cy="3474095"/>
        </p:xfrm>
        <a:graphic>
          <a:graphicData uri="http://schemas.openxmlformats.org/drawingml/2006/table">
            <a:tbl>
              <a:tblPr/>
              <a:tblGrid>
                <a:gridCol w="1896867"/>
                <a:gridCol w="1841077"/>
                <a:gridCol w="1841077"/>
              </a:tblGrid>
              <a:tr h="386011">
                <a:tc>
                  <a:txBody>
                    <a:bodyPr/>
                    <a:lstStyle/>
                    <a:p>
                      <a:pPr indent="0" marL="0">
                        <a:lnSpc>
                          <a:spcPts val="1960"/>
                        </a:lnSpc>
                        <a:buNone/>
                      </a:pPr>
                      <a:r>
                        <a:rPr lang="en-US" sz="1400" b="1" dirty="0">
                          <a:solidFill>
                            <a:srgbClr val="141A1F"/>
                          </a:solidFill>
                          <a:latin typeface="IBM Plex Sans" pitchFamily="34" charset="0"/>
                          <a:ea typeface="IBM Plex Sans" pitchFamily="34" charset="-122"/>
                          <a:cs typeface="IBM Plex Sans" pitchFamily="34" charset="-120"/>
                        </a:rPr>
                        <a:t>Gene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B7B7B4"/>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7B7B4"/>
                      </a:solidFill>
                      <a:prstDash val="solid"/>
                      <a:round/>
                      <a:headEnd type="none" w="med" len="med"/>
                      <a:tailEnd type="none" w="med" len="med"/>
                    </a:lnB>
                    <a:solidFill>
                      <a:srgbClr val="E5E5E2"/>
                    </a:solidFill>
                  </a:tcPr>
                </a:tc>
                <a:tc>
                  <a:txBody>
                    <a:bodyPr/>
                    <a:lstStyle/>
                    <a:p>
                      <a:pPr algn="r" indent="0" marL="0">
                        <a:lnSpc>
                          <a:spcPts val="1960"/>
                        </a:lnSpc>
                        <a:buNone/>
                      </a:pPr>
                      <a:r>
                        <a:rPr lang="en-US" sz="1400" b="1" dirty="0">
                          <a:solidFill>
                            <a:srgbClr val="141A1F"/>
                          </a:solidFill>
                          <a:latin typeface="IBM Plex Sans" pitchFamily="34" charset="0"/>
                          <a:ea typeface="IBM Plex Sans" pitchFamily="34" charset="-122"/>
                          <a:cs typeface="IBM Plex Sans" pitchFamily="34" charset="-120"/>
                        </a:rPr>
                        <a:t>Cohorts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7B4"/>
                      </a:solidFill>
                      <a:prstDash val="solid"/>
                      <a:round/>
                      <a:headEnd type="none" w="med" len="med"/>
                      <a:tailEnd type="none" w="med" len="med"/>
                    </a:lnL>
                    <a:lnR w="12700" cap="flat" cmpd="sng" algn="ctr">
                      <a:solidFill>
                        <a:srgbClr val="B7B7B4"/>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7B7B4"/>
                      </a:solidFill>
                      <a:prstDash val="solid"/>
                      <a:round/>
                      <a:headEnd type="none" w="med" len="med"/>
                      <a:tailEnd type="none" w="med" len="med"/>
                    </a:lnB>
                    <a:solidFill>
                      <a:srgbClr val="E5E5E2"/>
                    </a:solidFill>
                  </a:tcPr>
                </a:tc>
                <a:tc>
                  <a:txBody>
                    <a:bodyPr/>
                    <a:lstStyle/>
                    <a:p>
                      <a:pPr algn="r" indent="0" marL="0">
                        <a:lnSpc>
                          <a:spcPts val="1960"/>
                        </a:lnSpc>
                        <a:buNone/>
                      </a:pPr>
                      <a:r>
                        <a:rPr lang="en-US" sz="1400" b="1" dirty="0">
                          <a:solidFill>
                            <a:srgbClr val="141A1F"/>
                          </a:solidFill>
                          <a:latin typeface="IBM Plex Sans" pitchFamily="34" charset="0"/>
                          <a:ea typeface="IBM Plex Sans" pitchFamily="34" charset="-122"/>
                          <a:cs typeface="IBM Plex Sans" pitchFamily="34" charset="-120"/>
                        </a:rPr>
                        <a:t>Median HR per SD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7B4"/>
                      </a:solidFill>
                      <a:prstDash val="solid"/>
                      <a:round/>
                      <a:headEnd type="none" w="med" len="med"/>
                      <a:tailEnd type="none" w="med" len="med"/>
                    </a:lnL>
                    <a:lnR w="12700" cap="flat" cmpd="sng" algn="ctr">
                      <a:solidFill>
                        <a:srgbClr val="B7B7B4"/>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7B7B4"/>
                      </a:solidFill>
                      <a:prstDash val="solid"/>
                      <a:round/>
                      <a:headEnd type="none" w="med" len="med"/>
                      <a:tailEnd type="none" w="med" len="med"/>
                    </a:lnB>
                    <a:solidFill>
                      <a:srgbClr val="E5E5E2"/>
                    </a:solidFill>
                  </a:tcPr>
                </a:tc>
              </a:tr>
              <a:tr h="386011">
                <a:tc>
                  <a:txBody>
                    <a:bodyPr/>
                    <a:lstStyle/>
                    <a:p>
                      <a:pPr indent="0" marL="0">
                        <a:lnSpc>
                          <a:spcPts val="1960"/>
                        </a:lnSpc>
                        <a:buNone/>
                      </a:pPr>
                      <a:r>
                        <a:rPr lang="en-US" sz="1400" dirty="0">
                          <a:solidFill>
                            <a:srgbClr val="141A1F"/>
                          </a:solidFill>
                          <a:latin typeface="IBM Plex Sans" pitchFamily="34" charset="0"/>
                          <a:ea typeface="IBM Plex Sans" pitchFamily="34" charset="-122"/>
                          <a:cs typeface="IBM Plex Sans" pitchFamily="34" charset="-120"/>
                        </a:rPr>
                        <a:t>CBX7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7B7B4"/>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algn="r" indent="0" marL="0">
                        <a:lnSpc>
                          <a:spcPts val="1960"/>
                        </a:lnSpc>
                        <a:buNone/>
                      </a:pPr>
                      <a:r>
                        <a:rPr lang="en-US" sz="1400" dirty="0">
                          <a:solidFill>
                            <a:srgbClr val="141A1F"/>
                          </a:solidFill>
                          <a:latin typeface="IBM Plex Sans" pitchFamily="34" charset="0"/>
                          <a:ea typeface="IBM Plex Sans" pitchFamily="34" charset="-122"/>
                          <a:cs typeface="IBM Plex Sans" pitchFamily="34" charset="-120"/>
                        </a:rPr>
                        <a:t>5 of 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7B7B4"/>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algn="r" indent="0" marL="0">
                        <a:lnSpc>
                          <a:spcPts val="1960"/>
                        </a:lnSpc>
                        <a:buNone/>
                      </a:pPr>
                      <a:r>
                        <a:rPr lang="en-US" sz="1400" dirty="0">
                          <a:solidFill>
                            <a:srgbClr val="141A1F"/>
                          </a:solidFill>
                          <a:latin typeface="IBM Plex Sans" pitchFamily="34" charset="0"/>
                          <a:ea typeface="IBM Plex Sans" pitchFamily="34" charset="-122"/>
                          <a:cs typeface="IBM Plex Sans" pitchFamily="34" charset="-120"/>
                        </a:rPr>
                        <a:t>0.59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7B7B4"/>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1A1F"/>
                          </a:solidFill>
                          <a:latin typeface="IBM Plex Sans" pitchFamily="34" charset="0"/>
                          <a:ea typeface="IBM Plex Sans" pitchFamily="34" charset="-122"/>
                          <a:cs typeface="IBM Plex Sans" pitchFamily="34" charset="-120"/>
                        </a:rPr>
                        <a:t>ALDH2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algn="r" indent="0" marL="0">
                        <a:lnSpc>
                          <a:spcPts val="1960"/>
                        </a:lnSpc>
                        <a:buNone/>
                      </a:pPr>
                      <a:r>
                        <a:rPr lang="en-US" sz="1400" dirty="0">
                          <a:solidFill>
                            <a:srgbClr val="141A1F"/>
                          </a:solidFill>
                          <a:latin typeface="IBM Plex Sans" pitchFamily="34" charset="0"/>
                          <a:ea typeface="IBM Plex Sans" pitchFamily="34" charset="-122"/>
                          <a:cs typeface="IBM Plex Sans" pitchFamily="34" charset="-120"/>
                        </a:rPr>
                        <a:t>4 of 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algn="r" indent="0" marL="0">
                        <a:lnSpc>
                          <a:spcPts val="1960"/>
                        </a:lnSpc>
                        <a:buNone/>
                      </a:pPr>
                      <a:r>
                        <a:rPr lang="en-US" sz="1400" dirty="0">
                          <a:solidFill>
                            <a:srgbClr val="141A1F"/>
                          </a:solidFill>
                          <a:latin typeface="IBM Plex Sans" pitchFamily="34" charset="0"/>
                          <a:ea typeface="IBM Plex Sans" pitchFamily="34" charset="-122"/>
                          <a:cs typeface="IBM Plex Sans" pitchFamily="34" charset="-120"/>
                        </a:rPr>
                        <a:t>0.63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1A1F"/>
                          </a:solidFill>
                          <a:latin typeface="IBM Plex Sans" pitchFamily="34" charset="0"/>
                          <a:ea typeface="IBM Plex Sans" pitchFamily="34" charset="-122"/>
                          <a:cs typeface="IBM Plex Sans" pitchFamily="34" charset="-120"/>
                        </a:rPr>
                        <a:t>ATP8A1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algn="r" indent="0" marL="0">
                        <a:lnSpc>
                          <a:spcPts val="1960"/>
                        </a:lnSpc>
                        <a:buNone/>
                      </a:pPr>
                      <a:r>
                        <a:rPr lang="en-US" sz="1400" dirty="0">
                          <a:solidFill>
                            <a:srgbClr val="141A1F"/>
                          </a:solidFill>
                          <a:latin typeface="IBM Plex Sans" pitchFamily="34" charset="0"/>
                          <a:ea typeface="IBM Plex Sans" pitchFamily="34" charset="-122"/>
                          <a:cs typeface="IBM Plex Sans" pitchFamily="34" charset="-120"/>
                        </a:rPr>
                        <a:t>4 of 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algn="r" indent="0" marL="0">
                        <a:lnSpc>
                          <a:spcPts val="1960"/>
                        </a:lnSpc>
                        <a:buNone/>
                      </a:pPr>
                      <a:r>
                        <a:rPr lang="en-US" sz="1400" dirty="0">
                          <a:solidFill>
                            <a:srgbClr val="141A1F"/>
                          </a:solidFill>
                          <a:latin typeface="IBM Plex Sans" pitchFamily="34" charset="0"/>
                          <a:ea typeface="IBM Plex Sans" pitchFamily="34" charset="-122"/>
                          <a:cs typeface="IBM Plex Sans" pitchFamily="34" charset="-120"/>
                        </a:rPr>
                        <a:t>0.64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1A1F"/>
                          </a:solidFill>
                          <a:latin typeface="IBM Plex Sans" pitchFamily="34" charset="0"/>
                          <a:ea typeface="IBM Plex Sans" pitchFamily="34" charset="-122"/>
                          <a:cs typeface="IBM Plex Sans" pitchFamily="34" charset="-120"/>
                        </a:rPr>
                        <a:t>NDRG2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algn="r" indent="0" marL="0">
                        <a:lnSpc>
                          <a:spcPts val="1960"/>
                        </a:lnSpc>
                        <a:buNone/>
                      </a:pPr>
                      <a:r>
                        <a:rPr lang="en-US" sz="1400" dirty="0">
                          <a:solidFill>
                            <a:srgbClr val="141A1F"/>
                          </a:solidFill>
                          <a:latin typeface="IBM Plex Sans" pitchFamily="34" charset="0"/>
                          <a:ea typeface="IBM Plex Sans" pitchFamily="34" charset="-122"/>
                          <a:cs typeface="IBM Plex Sans" pitchFamily="34" charset="-120"/>
                        </a:rPr>
                        <a:t>4 of 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algn="r" indent="0" marL="0">
                        <a:lnSpc>
                          <a:spcPts val="1960"/>
                        </a:lnSpc>
                        <a:buNone/>
                      </a:pPr>
                      <a:r>
                        <a:rPr lang="en-US" sz="1400" dirty="0">
                          <a:solidFill>
                            <a:srgbClr val="141A1F"/>
                          </a:solidFill>
                          <a:latin typeface="IBM Plex Sans" pitchFamily="34" charset="0"/>
                          <a:ea typeface="IBM Plex Sans" pitchFamily="34" charset="-122"/>
                          <a:cs typeface="IBM Plex Sans" pitchFamily="34" charset="-120"/>
                        </a:rPr>
                        <a:t>0.66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1A1F"/>
                          </a:solidFill>
                          <a:latin typeface="IBM Plex Sans" pitchFamily="34" charset="0"/>
                          <a:ea typeface="IBM Plex Sans" pitchFamily="34" charset="-122"/>
                          <a:cs typeface="IBM Plex Sans" pitchFamily="34" charset="-120"/>
                        </a:rPr>
                        <a:t>CLEC3B</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algn="r" indent="0" marL="0">
                        <a:lnSpc>
                          <a:spcPts val="1960"/>
                        </a:lnSpc>
                        <a:buNone/>
                      </a:pPr>
                      <a:r>
                        <a:rPr lang="en-US" sz="1400" dirty="0">
                          <a:solidFill>
                            <a:srgbClr val="141A1F"/>
                          </a:solidFill>
                          <a:latin typeface="IBM Plex Sans" pitchFamily="34" charset="0"/>
                          <a:ea typeface="IBM Plex Sans" pitchFamily="34" charset="-122"/>
                          <a:cs typeface="IBM Plex Sans" pitchFamily="34" charset="-120"/>
                        </a:rPr>
                        <a:t>5 of 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algn="r" indent="0" marL="0">
                        <a:lnSpc>
                          <a:spcPts val="1960"/>
                        </a:lnSpc>
                        <a:buNone/>
                      </a:pPr>
                      <a:r>
                        <a:rPr lang="en-US" sz="1400" dirty="0">
                          <a:solidFill>
                            <a:srgbClr val="141A1F"/>
                          </a:solidFill>
                          <a:latin typeface="IBM Plex Sans" pitchFamily="34" charset="0"/>
                          <a:ea typeface="IBM Plex Sans" pitchFamily="34" charset="-122"/>
                          <a:cs typeface="IBM Plex Sans" pitchFamily="34" charset="-120"/>
                        </a:rPr>
                        <a:t>0.66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1A1F"/>
                          </a:solidFill>
                          <a:latin typeface="IBM Plex Sans" pitchFamily="34" charset="0"/>
                          <a:ea typeface="IBM Plex Sans" pitchFamily="34" charset="-122"/>
                          <a:cs typeface="IBM Plex Sans" pitchFamily="34" charset="-120"/>
                        </a:rPr>
                        <a:t>ACSL5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algn="r" indent="0" marL="0">
                        <a:lnSpc>
                          <a:spcPts val="1960"/>
                        </a:lnSpc>
                        <a:buNone/>
                      </a:pPr>
                      <a:r>
                        <a:rPr lang="en-US" sz="1400" dirty="0">
                          <a:solidFill>
                            <a:srgbClr val="141A1F"/>
                          </a:solidFill>
                          <a:latin typeface="IBM Plex Sans" pitchFamily="34" charset="0"/>
                          <a:ea typeface="IBM Plex Sans" pitchFamily="34" charset="-122"/>
                          <a:cs typeface="IBM Plex Sans" pitchFamily="34" charset="-120"/>
                        </a:rPr>
                        <a:t>4 of 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algn="r" indent="0" marL="0">
                        <a:lnSpc>
                          <a:spcPts val="1960"/>
                        </a:lnSpc>
                        <a:buNone/>
                      </a:pPr>
                      <a:r>
                        <a:rPr lang="en-US" sz="1400" dirty="0">
                          <a:solidFill>
                            <a:srgbClr val="141A1F"/>
                          </a:solidFill>
                          <a:latin typeface="IBM Plex Sans" pitchFamily="34" charset="0"/>
                          <a:ea typeface="IBM Plex Sans" pitchFamily="34" charset="-122"/>
                          <a:cs typeface="IBM Plex Sans" pitchFamily="34" charset="-120"/>
                        </a:rPr>
                        <a:t>0.68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1A1F"/>
                          </a:solidFill>
                          <a:latin typeface="IBM Plex Sans" pitchFamily="34" charset="0"/>
                          <a:ea typeface="IBM Plex Sans" pitchFamily="34" charset="-122"/>
                          <a:cs typeface="IBM Plex Sans" pitchFamily="34" charset="-120"/>
                        </a:rPr>
                        <a:t>HLF</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algn="r" indent="0" marL="0">
                        <a:lnSpc>
                          <a:spcPts val="1960"/>
                        </a:lnSpc>
                        <a:buNone/>
                      </a:pPr>
                      <a:r>
                        <a:rPr lang="en-US" sz="1400" dirty="0">
                          <a:solidFill>
                            <a:srgbClr val="141A1F"/>
                          </a:solidFill>
                          <a:latin typeface="IBM Plex Sans" pitchFamily="34" charset="0"/>
                          <a:ea typeface="IBM Plex Sans" pitchFamily="34" charset="-122"/>
                          <a:cs typeface="IBM Plex Sans" pitchFamily="34" charset="-120"/>
                        </a:rPr>
                        <a:t>5 of 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algn="r" indent="0" marL="0">
                        <a:lnSpc>
                          <a:spcPts val="1960"/>
                        </a:lnSpc>
                        <a:buNone/>
                      </a:pPr>
                      <a:r>
                        <a:rPr lang="en-US" sz="1400" dirty="0">
                          <a:solidFill>
                            <a:srgbClr val="141A1F"/>
                          </a:solidFill>
                          <a:latin typeface="IBM Plex Sans" pitchFamily="34" charset="0"/>
                          <a:ea typeface="IBM Plex Sans" pitchFamily="34" charset="-122"/>
                          <a:cs typeface="IBM Plex Sans" pitchFamily="34" charset="-120"/>
                        </a:rPr>
                        <a:t>0.70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1A1F"/>
                          </a:solidFill>
                          <a:latin typeface="IBM Plex Sans" pitchFamily="34" charset="0"/>
                          <a:ea typeface="IBM Plex Sans" pitchFamily="34" charset="-122"/>
                          <a:cs typeface="IBM Plex Sans" pitchFamily="34" charset="-120"/>
                        </a:rPr>
                        <a:t>ABAT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algn="r" indent="0" marL="0">
                        <a:lnSpc>
                          <a:spcPts val="1960"/>
                        </a:lnSpc>
                        <a:buNone/>
                      </a:pPr>
                      <a:r>
                        <a:rPr lang="en-US" sz="1400" dirty="0">
                          <a:solidFill>
                            <a:srgbClr val="141A1F"/>
                          </a:solidFill>
                          <a:latin typeface="IBM Plex Sans" pitchFamily="34" charset="0"/>
                          <a:ea typeface="IBM Plex Sans" pitchFamily="34" charset="-122"/>
                          <a:cs typeface="IBM Plex Sans" pitchFamily="34" charset="-120"/>
                        </a:rPr>
                        <a:t>4 of 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algn="r" indent="0" marL="0">
                        <a:lnSpc>
                          <a:spcPts val="1960"/>
                        </a:lnSpc>
                        <a:buNone/>
                      </a:pPr>
                      <a:r>
                        <a:rPr lang="en-US" sz="1400" dirty="0">
                          <a:solidFill>
                            <a:srgbClr val="141A1F"/>
                          </a:solidFill>
                          <a:latin typeface="IBM Plex Sans" pitchFamily="34" charset="0"/>
                          <a:ea typeface="IBM Plex Sans" pitchFamily="34" charset="-122"/>
                          <a:cs typeface="IBM Plex Sans" pitchFamily="34" charset="-120"/>
                        </a:rPr>
                        <a:t>0.72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bl>
          </a:graphicData>
        </a:graphic>
      </p:graphicFrame>
      <p:sp>
        <p:nvSpPr>
          <p:cNvPr id="4" name="Shape 1"/>
          <p:cNvSpPr/>
          <p:nvPr/>
        </p:nvSpPr>
        <p:spPr>
          <a:xfrm>
            <a:off x="6661696" y="1572865"/>
            <a:ext cx="4714329" cy="1134021"/>
          </a:xfrm>
          <a:prstGeom prst="roundRect">
            <a:avLst>
              <a:gd name="adj" fmla="val 8679"/>
            </a:avLst>
          </a:prstGeom>
          <a:solidFill>
            <a:srgbClr val="FDFDFB"/>
          </a:solidFill>
          <a:ln w="6350">
            <a:solidFill>
              <a:srgbClr val="DDE0DC"/>
            </a:solidFill>
            <a:prstDash val="solid"/>
          </a:ln>
        </p:spPr>
      </p:sp>
      <p:sp>
        <p:nvSpPr>
          <p:cNvPr id="5" name="Text 2"/>
          <p:cNvSpPr/>
          <p:nvPr/>
        </p:nvSpPr>
        <p:spPr>
          <a:xfrm>
            <a:off x="6868071" y="1779240"/>
            <a:ext cx="4430627"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F6F8B"/>
                </a:solidFill>
                <a:latin typeface="IBM Plex Sans" pitchFamily="34" charset="0"/>
                <a:ea typeface="IBM Plex Sans" pitchFamily="34" charset="-122"/>
                <a:cs typeface="IBM Plex Sans" pitchFamily="34" charset="-120"/>
              </a:rPr>
              <a:t>Polycomb and quiescence</a:t>
            </a:r>
            <a:endParaRPr lang="en-US" sz="1600" dirty="0"/>
          </a:p>
        </p:txBody>
      </p:sp>
      <p:sp>
        <p:nvSpPr>
          <p:cNvPr id="6" name="Text 3"/>
          <p:cNvSpPr/>
          <p:nvPr/>
        </p:nvSpPr>
        <p:spPr>
          <a:xfrm>
            <a:off x="6868071" y="2073870"/>
            <a:ext cx="443062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CBX7 is the most recurrent protective gene in the atlas, protective in five cancers and replicating in all five.</a:t>
            </a:r>
            <a:endParaRPr lang="en-US" sz="1200" dirty="0"/>
          </a:p>
        </p:txBody>
      </p:sp>
      <p:sp>
        <p:nvSpPr>
          <p:cNvPr id="7" name="Shape 4"/>
          <p:cNvSpPr/>
          <p:nvPr/>
        </p:nvSpPr>
        <p:spPr>
          <a:xfrm>
            <a:off x="6661696" y="2865636"/>
            <a:ext cx="4714329" cy="1560661"/>
          </a:xfrm>
          <a:prstGeom prst="roundRect">
            <a:avLst>
              <a:gd name="adj" fmla="val 6307"/>
            </a:avLst>
          </a:prstGeom>
          <a:solidFill>
            <a:srgbClr val="FDFDFB"/>
          </a:solidFill>
          <a:ln w="6350">
            <a:solidFill>
              <a:srgbClr val="DDE0DC"/>
            </a:solidFill>
            <a:prstDash val="solid"/>
          </a:ln>
        </p:spPr>
      </p:sp>
      <p:sp>
        <p:nvSpPr>
          <p:cNvPr id="8" name="Text 5"/>
          <p:cNvSpPr/>
          <p:nvPr/>
        </p:nvSpPr>
        <p:spPr>
          <a:xfrm>
            <a:off x="6868071" y="3072011"/>
            <a:ext cx="4430627"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F6F8B"/>
                </a:solidFill>
                <a:latin typeface="IBM Plex Sans" pitchFamily="34" charset="0"/>
                <a:ea typeface="IBM Plex Sans" pitchFamily="34" charset="-122"/>
                <a:cs typeface="IBM Plex Sans" pitchFamily="34" charset="-120"/>
              </a:rPr>
              <a:t>Circadian clock output</a:t>
            </a:r>
            <a:endParaRPr lang="en-US" sz="1600" dirty="0"/>
          </a:p>
        </p:txBody>
      </p:sp>
      <p:sp>
        <p:nvSpPr>
          <p:cNvPr id="9" name="Text 6"/>
          <p:cNvSpPr/>
          <p:nvPr/>
        </p:nvSpPr>
        <p:spPr>
          <a:xfrm>
            <a:off x="6868071" y="3366641"/>
            <a:ext cx="4430627"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HLF, TEF, DBP, PER2 and PER3 are protective wherever significant, with no risk-associated hit. The core activators carry no signal, so this is loss of rhythmic output rather than loss of the clock.</a:t>
            </a:r>
            <a:endParaRPr lang="en-US" sz="1200" dirty="0"/>
          </a:p>
        </p:txBody>
      </p:sp>
      <p:sp>
        <p:nvSpPr>
          <p:cNvPr id="10" name="Shape 7"/>
          <p:cNvSpPr/>
          <p:nvPr/>
        </p:nvSpPr>
        <p:spPr>
          <a:xfrm>
            <a:off x="6661696" y="4585047"/>
            <a:ext cx="4714329" cy="1134021"/>
          </a:xfrm>
          <a:prstGeom prst="roundRect">
            <a:avLst>
              <a:gd name="adj" fmla="val 8679"/>
            </a:avLst>
          </a:prstGeom>
          <a:solidFill>
            <a:srgbClr val="FDFDFB"/>
          </a:solidFill>
          <a:ln w="6350">
            <a:solidFill>
              <a:srgbClr val="DDE0DC"/>
            </a:solidFill>
            <a:prstDash val="solid"/>
          </a:ln>
        </p:spPr>
      </p:sp>
      <p:sp>
        <p:nvSpPr>
          <p:cNvPr id="11" name="Text 8"/>
          <p:cNvSpPr/>
          <p:nvPr/>
        </p:nvSpPr>
        <p:spPr>
          <a:xfrm>
            <a:off x="6868071" y="4791422"/>
            <a:ext cx="4430627"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F6F8B"/>
                </a:solidFill>
                <a:latin typeface="IBM Plex Sans" pitchFamily="34" charset="0"/>
                <a:ea typeface="IBM Plex Sans" pitchFamily="34" charset="-122"/>
                <a:cs typeface="IBM Plex Sans" pitchFamily="34" charset="-120"/>
              </a:rPr>
              <a:t>Retained metabolism</a:t>
            </a:r>
            <a:endParaRPr lang="en-US" sz="1600" dirty="0"/>
          </a:p>
        </p:txBody>
      </p:sp>
      <p:sp>
        <p:nvSpPr>
          <p:cNvPr id="12" name="Text 9"/>
          <p:cNvSpPr/>
          <p:nvPr/>
        </p:nvSpPr>
        <p:spPr>
          <a:xfrm>
            <a:off x="6868071" y="5086052"/>
            <a:ext cx="443062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ALDH2, ABAT and FBP1 describe a gradient from differentiated oxidative metabolism to dedifferentiated, glycolytic tumours.</a:t>
            </a:r>
            <a:endParaRPr lang="en-US" sz="1200" dirty="0"/>
          </a:p>
        </p:txBody>
      </p:sp>
      <p:sp>
        <p:nvSpPr>
          <p:cNvPr id="13" name="Text 10"/>
          <p:cNvSpPr/>
          <p:nvPr/>
        </p:nvSpPr>
        <p:spPr>
          <a:xfrm>
            <a:off x="812800" y="6238280"/>
            <a:ext cx="79490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38B"/>
                </a:solidFill>
                <a:latin typeface="IBM Plex Sans" pitchFamily="34" charset="0"/>
                <a:ea typeface="IBM Plex Sans" pitchFamily="34" charset="-122"/>
                <a:cs typeface="IBM Plex Sans" pitchFamily="34" charset="-120"/>
              </a:rPr>
              <a:t>Cohorts significant of cohorts replicating · 426 genes protective in two or more replicated cohorts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C2703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9810750" cy="997893"/>
          </a:xfrm>
          <a:prstGeom prst="rect">
            <a:avLst/>
          </a:prstGeom>
          <a:noFill/>
          <a:ln/>
        </p:spPr>
        <p:txBody>
          <a:bodyPr wrap="square" lIns="0" tIns="0" rIns="0" bIns="0" rtlCol="0" anchor="t">
            <a:normAutofit/>
          </a:bodyPr>
          <a:lstStyle/>
          <a:p>
            <a:pPr algn="l" indent="0" marL="0">
              <a:lnSpc>
                <a:spcPts val="3836"/>
              </a:lnSpc>
              <a:buNone/>
            </a:pPr>
            <a:r>
              <a:rPr lang="en-US" sz="3488" b="0" i="0" dirty="0">
                <a:solidFill>
                  <a:srgbClr val="1A1008"/>
                </a:solidFill>
                <a:latin typeface="Source Serif 4" pitchFamily="18" charset="0"/>
                <a:ea typeface="Source Serif 4" pitchFamily="18" charset="-122"/>
                <a:cs typeface="Source Serif 4" pitchFamily="18" charset="-120"/>
              </a:rPr>
              <a:t>The same gene can be protective in one cancer and harmful in another</a:t>
            </a:r>
            <a:endParaRPr lang="en-US" sz="3488" dirty="0"/>
          </a:p>
        </p:txBody>
      </p:sp>
      <p:sp>
        <p:nvSpPr>
          <p:cNvPr id="3" name="Text 1"/>
          <p:cNvSpPr/>
          <p:nvPr/>
        </p:nvSpPr>
        <p:spPr>
          <a:xfrm>
            <a:off x="812800" y="2039293"/>
            <a:ext cx="9156700" cy="575518"/>
          </a:xfrm>
          <a:prstGeom prst="rect">
            <a:avLst/>
          </a:prstGeom>
          <a:noFill/>
          <a:ln/>
        </p:spPr>
        <p:txBody>
          <a:bodyPr wrap="square" lIns="0" tIns="0" rIns="0" bIns="0" rtlCol="0" anchor="t">
            <a:normAutofit/>
          </a:bodyPr>
          <a:lstStyle/>
          <a:p>
            <a:pPr algn="l" indent="0" marL="0">
              <a:lnSpc>
                <a:spcPts val="2184"/>
              </a:lnSpc>
              <a:buNone/>
            </a:pPr>
            <a:r>
              <a:rPr lang="en-US" sz="1560" dirty="0">
                <a:solidFill>
                  <a:srgbClr val="3A2414"/>
                </a:solidFill>
                <a:latin typeface="IBM Plex Sans" pitchFamily="34" charset="0"/>
                <a:ea typeface="IBM Plex Sans" pitchFamily="34" charset="-122"/>
                <a:cs typeface="IBM Plex Sans" pitchFamily="34" charset="-120"/>
              </a:rPr>
              <a:t>For each gene, the number of cohorts where it raises risk against the number where it protects. A single pan-cancer sign is wrong in the smaller column every time.</a:t>
            </a:r>
            <a:endParaRPr lang="en-US" sz="156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856111"/>
          <a:ext cx="10553700" cy="2985889"/>
        </p:xfrm>
        <a:graphic>
          <a:graphicData uri="http://schemas.openxmlformats.org/drawingml/2006/table">
            <a:tbl>
              <a:tblPr/>
              <a:tblGrid>
                <a:gridCol w="2321814"/>
                <a:gridCol w="2743962"/>
                <a:gridCol w="2743962"/>
                <a:gridCol w="2743962"/>
              </a:tblGrid>
              <a:tr h="373211">
                <a:tc>
                  <a:txBody>
                    <a:bodyPr/>
                    <a:lstStyle/>
                    <a:p>
                      <a:pPr indent="0" marL="0">
                        <a:lnSpc>
                          <a:spcPts val="1893"/>
                        </a:lnSpc>
                        <a:buNone/>
                      </a:pPr>
                      <a:r>
                        <a:rPr lang="en-US" sz="1352" b="1" dirty="0">
                          <a:solidFill>
                            <a:srgbClr val="1A1008"/>
                          </a:solidFill>
                          <a:latin typeface="IBM Plex Sans" pitchFamily="34" charset="0"/>
                          <a:ea typeface="IBM Plex Sans" pitchFamily="34" charset="-122"/>
                          <a:cs typeface="IBM Plex Sans" pitchFamily="34" charset="-120"/>
                        </a:rPr>
                        <a:t>Gene</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9C5C34"/>
                      </a:solidFill>
                      <a:prstDash val="solid"/>
                      <a:round/>
                      <a:headEnd type="none" w="med" len="med"/>
                      <a:tailEnd type="none" w="med" len="med"/>
                    </a:lnL>
                    <a:lnR w="12700" cap="flat" cmpd="sng" algn="ctr">
                      <a:solidFill>
                        <a:srgbClr val="915631"/>
                      </a:solidFill>
                      <a:prstDash val="solid"/>
                      <a:round/>
                      <a:headEnd type="none" w="med" len="med"/>
                      <a:tailEnd type="none" w="med" len="med"/>
                    </a:lnR>
                    <a:lnT w="12700" cap="flat" cmpd="sng" algn="ctr">
                      <a:solidFill>
                        <a:srgbClr val="9C5C34"/>
                      </a:solidFill>
                      <a:prstDash val="solid"/>
                      <a:round/>
                      <a:headEnd type="none" w="med" len="med"/>
                      <a:tailEnd type="none" w="med" len="med"/>
                    </a:lnT>
                    <a:lnB w="12700" cap="flat" cmpd="sng" algn="ctr">
                      <a:solidFill>
                        <a:srgbClr val="915631"/>
                      </a:solidFill>
                      <a:prstDash val="solid"/>
                      <a:round/>
                      <a:headEnd type="none" w="med" len="med"/>
                      <a:tailEnd type="none" w="med" len="med"/>
                    </a:lnB>
                    <a:solidFill>
                      <a:srgbClr val="B4693A"/>
                    </a:solidFill>
                  </a:tcPr>
                </a:tc>
                <a:tc>
                  <a:txBody>
                    <a:bodyPr/>
                    <a:lstStyle/>
                    <a:p>
                      <a:pPr algn="r" indent="0" marL="0">
                        <a:lnSpc>
                          <a:spcPts val="1893"/>
                        </a:lnSpc>
                        <a:buNone/>
                      </a:pPr>
                      <a:r>
                        <a:rPr lang="en-US" sz="1352" b="1" dirty="0">
                          <a:solidFill>
                            <a:srgbClr val="1A1008"/>
                          </a:solidFill>
                          <a:latin typeface="IBM Plex Sans" pitchFamily="34" charset="0"/>
                          <a:ea typeface="IBM Plex Sans" pitchFamily="34" charset="-122"/>
                          <a:cs typeface="IBM Plex Sans" pitchFamily="34" charset="-120"/>
                        </a:rPr>
                        <a:t>Cohorts significant</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915631"/>
                      </a:solidFill>
                      <a:prstDash val="solid"/>
                      <a:round/>
                      <a:headEnd type="none" w="med" len="med"/>
                      <a:tailEnd type="none" w="med" len="med"/>
                    </a:lnL>
                    <a:lnR w="12700" cap="flat" cmpd="sng" algn="ctr">
                      <a:solidFill>
                        <a:srgbClr val="915631"/>
                      </a:solidFill>
                      <a:prstDash val="solid"/>
                      <a:round/>
                      <a:headEnd type="none" w="med" len="med"/>
                      <a:tailEnd type="none" w="med" len="med"/>
                    </a:lnR>
                    <a:lnT w="12700" cap="flat" cmpd="sng" algn="ctr">
                      <a:solidFill>
                        <a:srgbClr val="9C5C34"/>
                      </a:solidFill>
                      <a:prstDash val="solid"/>
                      <a:round/>
                      <a:headEnd type="none" w="med" len="med"/>
                      <a:tailEnd type="none" w="med" len="med"/>
                    </a:lnT>
                    <a:lnB w="12700" cap="flat" cmpd="sng" algn="ctr">
                      <a:solidFill>
                        <a:srgbClr val="915631"/>
                      </a:solidFill>
                      <a:prstDash val="solid"/>
                      <a:round/>
                      <a:headEnd type="none" w="med" len="med"/>
                      <a:tailEnd type="none" w="med" len="med"/>
                    </a:lnB>
                    <a:solidFill>
                      <a:srgbClr val="B4693A"/>
                    </a:solidFill>
                  </a:tcPr>
                </a:tc>
                <a:tc>
                  <a:txBody>
                    <a:bodyPr/>
                    <a:lstStyle/>
                    <a:p>
                      <a:pPr algn="r" indent="0" marL="0">
                        <a:lnSpc>
                          <a:spcPts val="1893"/>
                        </a:lnSpc>
                        <a:buNone/>
                      </a:pPr>
                      <a:r>
                        <a:rPr lang="en-US" sz="1352" b="1" dirty="0">
                          <a:solidFill>
                            <a:srgbClr val="1A1008"/>
                          </a:solidFill>
                          <a:latin typeface="IBM Plex Sans" pitchFamily="34" charset="0"/>
                          <a:ea typeface="IBM Plex Sans" pitchFamily="34" charset="-122"/>
                          <a:cs typeface="IBM Plex Sans" pitchFamily="34" charset="-120"/>
                        </a:rPr>
                        <a:t>Risk-associated in</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915631"/>
                      </a:solidFill>
                      <a:prstDash val="solid"/>
                      <a:round/>
                      <a:headEnd type="none" w="med" len="med"/>
                      <a:tailEnd type="none" w="med" len="med"/>
                    </a:lnL>
                    <a:lnR w="12700" cap="flat" cmpd="sng" algn="ctr">
                      <a:solidFill>
                        <a:srgbClr val="915631"/>
                      </a:solidFill>
                      <a:prstDash val="solid"/>
                      <a:round/>
                      <a:headEnd type="none" w="med" len="med"/>
                      <a:tailEnd type="none" w="med" len="med"/>
                    </a:lnR>
                    <a:lnT w="12700" cap="flat" cmpd="sng" algn="ctr">
                      <a:solidFill>
                        <a:srgbClr val="9C5C34"/>
                      </a:solidFill>
                      <a:prstDash val="solid"/>
                      <a:round/>
                      <a:headEnd type="none" w="med" len="med"/>
                      <a:tailEnd type="none" w="med" len="med"/>
                    </a:lnT>
                    <a:lnB w="12700" cap="flat" cmpd="sng" algn="ctr">
                      <a:solidFill>
                        <a:srgbClr val="915631"/>
                      </a:solidFill>
                      <a:prstDash val="solid"/>
                      <a:round/>
                      <a:headEnd type="none" w="med" len="med"/>
                      <a:tailEnd type="none" w="med" len="med"/>
                    </a:lnB>
                    <a:solidFill>
                      <a:srgbClr val="B4693A"/>
                    </a:solidFill>
                  </a:tcPr>
                </a:tc>
                <a:tc>
                  <a:txBody>
                    <a:bodyPr/>
                    <a:lstStyle/>
                    <a:p>
                      <a:pPr algn="r" indent="0" marL="0">
                        <a:lnSpc>
                          <a:spcPts val="1893"/>
                        </a:lnSpc>
                        <a:buNone/>
                      </a:pPr>
                      <a:r>
                        <a:rPr lang="en-US" sz="1352" b="1" dirty="0">
                          <a:solidFill>
                            <a:srgbClr val="1A1008"/>
                          </a:solidFill>
                          <a:latin typeface="IBM Plex Sans" pitchFamily="34" charset="0"/>
                          <a:ea typeface="IBM Plex Sans" pitchFamily="34" charset="-122"/>
                          <a:cs typeface="IBM Plex Sans" pitchFamily="34" charset="-120"/>
                        </a:rPr>
                        <a:t>Protective in</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915631"/>
                      </a:solidFill>
                      <a:prstDash val="solid"/>
                      <a:round/>
                      <a:headEnd type="none" w="med" len="med"/>
                      <a:tailEnd type="none" w="med" len="med"/>
                    </a:lnL>
                    <a:lnR w="12700" cap="flat" cmpd="sng" algn="ctr">
                      <a:solidFill>
                        <a:srgbClr val="915631"/>
                      </a:solidFill>
                      <a:prstDash val="solid"/>
                      <a:round/>
                      <a:headEnd type="none" w="med" len="med"/>
                      <a:tailEnd type="none" w="med" len="med"/>
                    </a:lnR>
                    <a:lnT w="12700" cap="flat" cmpd="sng" algn="ctr">
                      <a:solidFill>
                        <a:srgbClr val="9C5C34"/>
                      </a:solidFill>
                      <a:prstDash val="solid"/>
                      <a:round/>
                      <a:headEnd type="none" w="med" len="med"/>
                      <a:tailEnd type="none" w="med" len="med"/>
                    </a:lnT>
                    <a:lnB w="12700" cap="flat" cmpd="sng" algn="ctr">
                      <a:solidFill>
                        <a:srgbClr val="915631"/>
                      </a:solidFill>
                      <a:prstDash val="solid"/>
                      <a:round/>
                      <a:headEnd type="none" w="med" len="med"/>
                      <a:tailEnd type="none" w="med" len="med"/>
                    </a:lnB>
                    <a:solidFill>
                      <a:srgbClr val="B4693A"/>
                    </a:solidFill>
                  </a:tcPr>
                </a:tc>
              </a:tr>
              <a:tr h="373211">
                <a:tc>
                  <a:txBody>
                    <a:bodyPr/>
                    <a:lstStyle/>
                    <a:p>
                      <a:pPr indent="0" marL="0">
                        <a:lnSpc>
                          <a:spcPts val="1893"/>
                        </a:lnSpc>
                        <a:buNone/>
                      </a:pPr>
                      <a:r>
                        <a:rPr lang="en-US" sz="1352" dirty="0">
                          <a:solidFill>
                            <a:srgbClr val="1A1008"/>
                          </a:solidFill>
                          <a:latin typeface="IBM Plex Sans" pitchFamily="34" charset="0"/>
                          <a:ea typeface="IBM Plex Sans" pitchFamily="34" charset="-122"/>
                          <a:cs typeface="IBM Plex Sans" pitchFamily="34" charset="-120"/>
                        </a:rPr>
                        <a:t>ANXA2</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9C5C34"/>
                      </a:solidFill>
                      <a:prstDash val="solid"/>
                      <a:round/>
                      <a:headEnd type="none" w="med" len="med"/>
                      <a:tailEnd type="none" w="med" len="med"/>
                    </a:lnL>
                    <a:lnR w="12700" cap="flat" cmpd="sng" algn="ctr">
                      <a:solidFill>
                        <a:srgbClr val="9C5C34"/>
                      </a:solidFill>
                      <a:prstDash val="solid"/>
                      <a:round/>
                      <a:headEnd type="none" w="med" len="med"/>
                      <a:tailEnd type="none" w="med" len="med"/>
                    </a:lnR>
                    <a:lnT w="12700" cap="flat" cmpd="sng" algn="ctr">
                      <a:solidFill>
                        <a:srgbClr val="915631"/>
                      </a:solidFill>
                      <a:prstDash val="solid"/>
                      <a:round/>
                      <a:headEnd type="none" w="med" len="med"/>
                      <a:tailEnd type="none" w="med" len="med"/>
                    </a:lnT>
                    <a:lnB w="12700" cap="flat" cmpd="sng" algn="ctr">
                      <a:solidFill>
                        <a:srgbClr val="9C5C34"/>
                      </a:solidFill>
                      <a:prstDash val="solid"/>
                      <a:round/>
                      <a:headEnd type="none" w="med" len="med"/>
                      <a:tailEnd type="none" w="med" len="med"/>
                    </a:lnB>
                  </a:tcPr>
                </a:tc>
                <a:tc>
                  <a:txBody>
                    <a:bodyPr/>
                    <a:lstStyle/>
                    <a:p>
                      <a:pPr algn="r" indent="0" marL="0">
                        <a:lnSpc>
                          <a:spcPts val="1893"/>
                        </a:lnSpc>
                        <a:buNone/>
                      </a:pPr>
                      <a:r>
                        <a:rPr lang="en-US" sz="1352" dirty="0">
                          <a:solidFill>
                            <a:srgbClr val="1A1008"/>
                          </a:solidFill>
                          <a:latin typeface="IBM Plex Sans" pitchFamily="34" charset="0"/>
                          <a:ea typeface="IBM Plex Sans" pitchFamily="34" charset="-122"/>
                          <a:cs typeface="IBM Plex Sans" pitchFamily="34" charset="-120"/>
                        </a:rPr>
                        <a:t>6</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9C5C34"/>
                      </a:solidFill>
                      <a:prstDash val="solid"/>
                      <a:round/>
                      <a:headEnd type="none" w="med" len="med"/>
                      <a:tailEnd type="none" w="med" len="med"/>
                    </a:lnL>
                    <a:lnR w="12700" cap="flat" cmpd="sng" algn="ctr">
                      <a:solidFill>
                        <a:srgbClr val="9C5C34"/>
                      </a:solidFill>
                      <a:prstDash val="solid"/>
                      <a:round/>
                      <a:headEnd type="none" w="med" len="med"/>
                      <a:tailEnd type="none" w="med" len="med"/>
                    </a:lnR>
                    <a:lnT w="12700" cap="flat" cmpd="sng" algn="ctr">
                      <a:solidFill>
                        <a:srgbClr val="915631"/>
                      </a:solidFill>
                      <a:prstDash val="solid"/>
                      <a:round/>
                      <a:headEnd type="none" w="med" len="med"/>
                      <a:tailEnd type="none" w="med" len="med"/>
                    </a:lnT>
                    <a:lnB w="12700" cap="flat" cmpd="sng" algn="ctr">
                      <a:solidFill>
                        <a:srgbClr val="9C5C34"/>
                      </a:solidFill>
                      <a:prstDash val="solid"/>
                      <a:round/>
                      <a:headEnd type="none" w="med" len="med"/>
                      <a:tailEnd type="none" w="med" len="med"/>
                    </a:lnB>
                  </a:tcPr>
                </a:tc>
                <a:tc>
                  <a:txBody>
                    <a:bodyPr/>
                    <a:lstStyle/>
                    <a:p>
                      <a:pPr algn="r" indent="0" marL="0">
                        <a:lnSpc>
                          <a:spcPts val="1893"/>
                        </a:lnSpc>
                        <a:buNone/>
                      </a:pPr>
                      <a:r>
                        <a:rPr lang="en-US" sz="1352" dirty="0">
                          <a:solidFill>
                            <a:srgbClr val="1A1008"/>
                          </a:solidFill>
                          <a:latin typeface="IBM Plex Sans" pitchFamily="34" charset="0"/>
                          <a:ea typeface="IBM Plex Sans" pitchFamily="34" charset="-122"/>
                          <a:cs typeface="IBM Plex Sans" pitchFamily="34" charset="-120"/>
                        </a:rPr>
                        <a:t>5</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9C5C34"/>
                      </a:solidFill>
                      <a:prstDash val="solid"/>
                      <a:round/>
                      <a:headEnd type="none" w="med" len="med"/>
                      <a:tailEnd type="none" w="med" len="med"/>
                    </a:lnL>
                    <a:lnR w="12700" cap="flat" cmpd="sng" algn="ctr">
                      <a:solidFill>
                        <a:srgbClr val="9C5C34"/>
                      </a:solidFill>
                      <a:prstDash val="solid"/>
                      <a:round/>
                      <a:headEnd type="none" w="med" len="med"/>
                      <a:tailEnd type="none" w="med" len="med"/>
                    </a:lnR>
                    <a:lnT w="12700" cap="flat" cmpd="sng" algn="ctr">
                      <a:solidFill>
                        <a:srgbClr val="915631"/>
                      </a:solidFill>
                      <a:prstDash val="solid"/>
                      <a:round/>
                      <a:headEnd type="none" w="med" len="med"/>
                      <a:tailEnd type="none" w="med" len="med"/>
                    </a:lnT>
                    <a:lnB w="12700" cap="flat" cmpd="sng" algn="ctr">
                      <a:solidFill>
                        <a:srgbClr val="9C5C34"/>
                      </a:solidFill>
                      <a:prstDash val="solid"/>
                      <a:round/>
                      <a:headEnd type="none" w="med" len="med"/>
                      <a:tailEnd type="none" w="med" len="med"/>
                    </a:lnB>
                  </a:tcPr>
                </a:tc>
                <a:tc>
                  <a:txBody>
                    <a:bodyPr/>
                    <a:lstStyle/>
                    <a:p>
                      <a:pPr algn="r" indent="0" marL="0">
                        <a:lnSpc>
                          <a:spcPts val="1893"/>
                        </a:lnSpc>
                        <a:buNone/>
                      </a:pPr>
                      <a:r>
                        <a:rPr lang="en-US" sz="1352" dirty="0">
                          <a:solidFill>
                            <a:srgbClr val="1A1008"/>
                          </a:solidFill>
                          <a:latin typeface="IBM Plex Sans" pitchFamily="34" charset="0"/>
                          <a:ea typeface="IBM Plex Sans" pitchFamily="34" charset="-122"/>
                          <a:cs typeface="IBM Plex Sans" pitchFamily="34" charset="-120"/>
                        </a:rPr>
                        <a:t>1</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9C5C34"/>
                      </a:solidFill>
                      <a:prstDash val="solid"/>
                      <a:round/>
                      <a:headEnd type="none" w="med" len="med"/>
                      <a:tailEnd type="none" w="med" len="med"/>
                    </a:lnL>
                    <a:lnR w="12700" cap="flat" cmpd="sng" algn="ctr">
                      <a:solidFill>
                        <a:srgbClr val="9C5C34"/>
                      </a:solidFill>
                      <a:prstDash val="solid"/>
                      <a:round/>
                      <a:headEnd type="none" w="med" len="med"/>
                      <a:tailEnd type="none" w="med" len="med"/>
                    </a:lnR>
                    <a:lnT w="12700" cap="flat" cmpd="sng" algn="ctr">
                      <a:solidFill>
                        <a:srgbClr val="915631"/>
                      </a:solidFill>
                      <a:prstDash val="solid"/>
                      <a:round/>
                      <a:headEnd type="none" w="med" len="med"/>
                      <a:tailEnd type="none" w="med" len="med"/>
                    </a:lnT>
                    <a:lnB w="12700" cap="flat" cmpd="sng" algn="ctr">
                      <a:solidFill>
                        <a:srgbClr val="9C5C34"/>
                      </a:solidFill>
                      <a:prstDash val="solid"/>
                      <a:round/>
                      <a:headEnd type="none" w="med" len="med"/>
                      <a:tailEnd type="none" w="med" len="med"/>
                    </a:lnB>
                  </a:tcPr>
                </a:tc>
              </a:tr>
              <a:tr h="373211">
                <a:tc>
                  <a:txBody>
                    <a:bodyPr/>
                    <a:lstStyle/>
                    <a:p>
                      <a:pPr indent="0" marL="0">
                        <a:lnSpc>
                          <a:spcPts val="1893"/>
                        </a:lnSpc>
                        <a:buNone/>
                      </a:pPr>
                      <a:r>
                        <a:rPr lang="en-US" sz="1352" dirty="0">
                          <a:solidFill>
                            <a:srgbClr val="1A1008"/>
                          </a:solidFill>
                          <a:latin typeface="IBM Plex Sans" pitchFamily="34" charset="0"/>
                          <a:ea typeface="IBM Plex Sans" pitchFamily="34" charset="-122"/>
                          <a:cs typeface="IBM Plex Sans" pitchFamily="34" charset="-120"/>
                        </a:rPr>
                        <a:t>FLNC</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9C5C34"/>
                      </a:solidFill>
                      <a:prstDash val="solid"/>
                      <a:round/>
                      <a:headEnd type="none" w="med" len="med"/>
                      <a:tailEnd type="none" w="med" len="med"/>
                    </a:lnL>
                    <a:lnR w="12700" cap="flat" cmpd="sng" algn="ctr">
                      <a:solidFill>
                        <a:srgbClr val="9C5C34"/>
                      </a:solidFill>
                      <a:prstDash val="solid"/>
                      <a:round/>
                      <a:headEnd type="none" w="med" len="med"/>
                      <a:tailEnd type="none" w="med" len="med"/>
                    </a:lnR>
                    <a:lnT w="12700" cap="flat" cmpd="sng" algn="ctr">
                      <a:solidFill>
                        <a:srgbClr val="9C5C34"/>
                      </a:solidFill>
                      <a:prstDash val="solid"/>
                      <a:round/>
                      <a:headEnd type="none" w="med" len="med"/>
                      <a:tailEnd type="none" w="med" len="med"/>
                    </a:lnT>
                    <a:lnB w="12700" cap="flat" cmpd="sng" algn="ctr">
                      <a:solidFill>
                        <a:srgbClr val="9C5C34"/>
                      </a:solidFill>
                      <a:prstDash val="solid"/>
                      <a:round/>
                      <a:headEnd type="none" w="med" len="med"/>
                      <a:tailEnd type="none" w="med" len="med"/>
                    </a:lnB>
                  </a:tcPr>
                </a:tc>
                <a:tc>
                  <a:txBody>
                    <a:bodyPr/>
                    <a:lstStyle/>
                    <a:p>
                      <a:pPr algn="r" indent="0" marL="0">
                        <a:lnSpc>
                          <a:spcPts val="1893"/>
                        </a:lnSpc>
                        <a:buNone/>
                      </a:pPr>
                      <a:r>
                        <a:rPr lang="en-US" sz="1352" dirty="0">
                          <a:solidFill>
                            <a:srgbClr val="1A1008"/>
                          </a:solidFill>
                          <a:latin typeface="IBM Plex Sans" pitchFamily="34" charset="0"/>
                          <a:ea typeface="IBM Plex Sans" pitchFamily="34" charset="-122"/>
                          <a:cs typeface="IBM Plex Sans" pitchFamily="34" charset="-120"/>
                        </a:rPr>
                        <a:t>6</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9C5C34"/>
                      </a:solidFill>
                      <a:prstDash val="solid"/>
                      <a:round/>
                      <a:headEnd type="none" w="med" len="med"/>
                      <a:tailEnd type="none" w="med" len="med"/>
                    </a:lnL>
                    <a:lnR w="12700" cap="flat" cmpd="sng" algn="ctr">
                      <a:solidFill>
                        <a:srgbClr val="9C5C34"/>
                      </a:solidFill>
                      <a:prstDash val="solid"/>
                      <a:round/>
                      <a:headEnd type="none" w="med" len="med"/>
                      <a:tailEnd type="none" w="med" len="med"/>
                    </a:lnR>
                    <a:lnT w="12700" cap="flat" cmpd="sng" algn="ctr">
                      <a:solidFill>
                        <a:srgbClr val="9C5C34"/>
                      </a:solidFill>
                      <a:prstDash val="solid"/>
                      <a:round/>
                      <a:headEnd type="none" w="med" len="med"/>
                      <a:tailEnd type="none" w="med" len="med"/>
                    </a:lnT>
                    <a:lnB w="12700" cap="flat" cmpd="sng" algn="ctr">
                      <a:solidFill>
                        <a:srgbClr val="9C5C34"/>
                      </a:solidFill>
                      <a:prstDash val="solid"/>
                      <a:round/>
                      <a:headEnd type="none" w="med" len="med"/>
                      <a:tailEnd type="none" w="med" len="med"/>
                    </a:lnB>
                  </a:tcPr>
                </a:tc>
                <a:tc>
                  <a:txBody>
                    <a:bodyPr/>
                    <a:lstStyle/>
                    <a:p>
                      <a:pPr algn="r" indent="0" marL="0">
                        <a:lnSpc>
                          <a:spcPts val="1893"/>
                        </a:lnSpc>
                        <a:buNone/>
                      </a:pPr>
                      <a:r>
                        <a:rPr lang="en-US" sz="1352" dirty="0">
                          <a:solidFill>
                            <a:srgbClr val="1A1008"/>
                          </a:solidFill>
                          <a:latin typeface="IBM Plex Sans" pitchFamily="34" charset="0"/>
                          <a:ea typeface="IBM Plex Sans" pitchFamily="34" charset="-122"/>
                          <a:cs typeface="IBM Plex Sans" pitchFamily="34" charset="-120"/>
                        </a:rPr>
                        <a:t>5</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9C5C34"/>
                      </a:solidFill>
                      <a:prstDash val="solid"/>
                      <a:round/>
                      <a:headEnd type="none" w="med" len="med"/>
                      <a:tailEnd type="none" w="med" len="med"/>
                    </a:lnL>
                    <a:lnR w="12700" cap="flat" cmpd="sng" algn="ctr">
                      <a:solidFill>
                        <a:srgbClr val="9C5C34"/>
                      </a:solidFill>
                      <a:prstDash val="solid"/>
                      <a:round/>
                      <a:headEnd type="none" w="med" len="med"/>
                      <a:tailEnd type="none" w="med" len="med"/>
                    </a:lnR>
                    <a:lnT w="12700" cap="flat" cmpd="sng" algn="ctr">
                      <a:solidFill>
                        <a:srgbClr val="9C5C34"/>
                      </a:solidFill>
                      <a:prstDash val="solid"/>
                      <a:round/>
                      <a:headEnd type="none" w="med" len="med"/>
                      <a:tailEnd type="none" w="med" len="med"/>
                    </a:lnT>
                    <a:lnB w="12700" cap="flat" cmpd="sng" algn="ctr">
                      <a:solidFill>
                        <a:srgbClr val="9C5C34"/>
                      </a:solidFill>
                      <a:prstDash val="solid"/>
                      <a:round/>
                      <a:headEnd type="none" w="med" len="med"/>
                      <a:tailEnd type="none" w="med" len="med"/>
                    </a:lnB>
                  </a:tcPr>
                </a:tc>
                <a:tc>
                  <a:txBody>
                    <a:bodyPr/>
                    <a:lstStyle/>
                    <a:p>
                      <a:pPr algn="r" indent="0" marL="0">
                        <a:lnSpc>
                          <a:spcPts val="1893"/>
                        </a:lnSpc>
                        <a:buNone/>
                      </a:pPr>
                      <a:r>
                        <a:rPr lang="en-US" sz="1352" dirty="0">
                          <a:solidFill>
                            <a:srgbClr val="1A1008"/>
                          </a:solidFill>
                          <a:latin typeface="IBM Plex Sans" pitchFamily="34" charset="0"/>
                          <a:ea typeface="IBM Plex Sans" pitchFamily="34" charset="-122"/>
                          <a:cs typeface="IBM Plex Sans" pitchFamily="34" charset="-120"/>
                        </a:rPr>
                        <a:t>1</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9C5C34"/>
                      </a:solidFill>
                      <a:prstDash val="solid"/>
                      <a:round/>
                      <a:headEnd type="none" w="med" len="med"/>
                      <a:tailEnd type="none" w="med" len="med"/>
                    </a:lnL>
                    <a:lnR w="12700" cap="flat" cmpd="sng" algn="ctr">
                      <a:solidFill>
                        <a:srgbClr val="9C5C34"/>
                      </a:solidFill>
                      <a:prstDash val="solid"/>
                      <a:round/>
                      <a:headEnd type="none" w="med" len="med"/>
                      <a:tailEnd type="none" w="med" len="med"/>
                    </a:lnR>
                    <a:lnT w="12700" cap="flat" cmpd="sng" algn="ctr">
                      <a:solidFill>
                        <a:srgbClr val="9C5C34"/>
                      </a:solidFill>
                      <a:prstDash val="solid"/>
                      <a:round/>
                      <a:headEnd type="none" w="med" len="med"/>
                      <a:tailEnd type="none" w="med" len="med"/>
                    </a:lnT>
                    <a:lnB w="12700" cap="flat" cmpd="sng" algn="ctr">
                      <a:solidFill>
                        <a:srgbClr val="9C5C34"/>
                      </a:solidFill>
                      <a:prstDash val="solid"/>
                      <a:round/>
                      <a:headEnd type="none" w="med" len="med"/>
                      <a:tailEnd type="none" w="med" len="med"/>
                    </a:lnB>
                  </a:tcPr>
                </a:tc>
              </a:tr>
              <a:tr h="373211">
                <a:tc>
                  <a:txBody>
                    <a:bodyPr/>
                    <a:lstStyle/>
                    <a:p>
                      <a:pPr indent="0" marL="0">
                        <a:lnSpc>
                          <a:spcPts val="1893"/>
                        </a:lnSpc>
                        <a:buNone/>
                      </a:pPr>
                      <a:r>
                        <a:rPr lang="en-US" sz="1352" dirty="0">
                          <a:solidFill>
                            <a:srgbClr val="1A1008"/>
                          </a:solidFill>
                          <a:latin typeface="IBM Plex Sans" pitchFamily="34" charset="0"/>
                          <a:ea typeface="IBM Plex Sans" pitchFamily="34" charset="-122"/>
                          <a:cs typeface="IBM Plex Sans" pitchFamily="34" charset="-120"/>
                        </a:rPr>
                        <a:t>GBP2</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9C5C34"/>
                      </a:solidFill>
                      <a:prstDash val="solid"/>
                      <a:round/>
                      <a:headEnd type="none" w="med" len="med"/>
                      <a:tailEnd type="none" w="med" len="med"/>
                    </a:lnL>
                    <a:lnR w="12700" cap="flat" cmpd="sng" algn="ctr">
                      <a:solidFill>
                        <a:srgbClr val="9C5C34"/>
                      </a:solidFill>
                      <a:prstDash val="solid"/>
                      <a:round/>
                      <a:headEnd type="none" w="med" len="med"/>
                      <a:tailEnd type="none" w="med" len="med"/>
                    </a:lnR>
                    <a:lnT w="12700" cap="flat" cmpd="sng" algn="ctr">
                      <a:solidFill>
                        <a:srgbClr val="9C5C34"/>
                      </a:solidFill>
                      <a:prstDash val="solid"/>
                      <a:round/>
                      <a:headEnd type="none" w="med" len="med"/>
                      <a:tailEnd type="none" w="med" len="med"/>
                    </a:lnT>
                    <a:lnB w="12700" cap="flat" cmpd="sng" algn="ctr">
                      <a:solidFill>
                        <a:srgbClr val="9C5C34"/>
                      </a:solidFill>
                      <a:prstDash val="solid"/>
                      <a:round/>
                      <a:headEnd type="none" w="med" len="med"/>
                      <a:tailEnd type="none" w="med" len="med"/>
                    </a:lnB>
                  </a:tcPr>
                </a:tc>
                <a:tc>
                  <a:txBody>
                    <a:bodyPr/>
                    <a:lstStyle/>
                    <a:p>
                      <a:pPr algn="r" indent="0" marL="0">
                        <a:lnSpc>
                          <a:spcPts val="1893"/>
                        </a:lnSpc>
                        <a:buNone/>
                      </a:pPr>
                      <a:r>
                        <a:rPr lang="en-US" sz="1352" dirty="0">
                          <a:solidFill>
                            <a:srgbClr val="1A1008"/>
                          </a:solidFill>
                          <a:latin typeface="IBM Plex Sans" pitchFamily="34" charset="0"/>
                          <a:ea typeface="IBM Plex Sans" pitchFamily="34" charset="-122"/>
                          <a:cs typeface="IBM Plex Sans" pitchFamily="34" charset="-120"/>
                        </a:rPr>
                        <a:t>6</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9C5C34"/>
                      </a:solidFill>
                      <a:prstDash val="solid"/>
                      <a:round/>
                      <a:headEnd type="none" w="med" len="med"/>
                      <a:tailEnd type="none" w="med" len="med"/>
                    </a:lnL>
                    <a:lnR w="12700" cap="flat" cmpd="sng" algn="ctr">
                      <a:solidFill>
                        <a:srgbClr val="9C5C34"/>
                      </a:solidFill>
                      <a:prstDash val="solid"/>
                      <a:round/>
                      <a:headEnd type="none" w="med" len="med"/>
                      <a:tailEnd type="none" w="med" len="med"/>
                    </a:lnR>
                    <a:lnT w="12700" cap="flat" cmpd="sng" algn="ctr">
                      <a:solidFill>
                        <a:srgbClr val="9C5C34"/>
                      </a:solidFill>
                      <a:prstDash val="solid"/>
                      <a:round/>
                      <a:headEnd type="none" w="med" len="med"/>
                      <a:tailEnd type="none" w="med" len="med"/>
                    </a:lnT>
                    <a:lnB w="12700" cap="flat" cmpd="sng" algn="ctr">
                      <a:solidFill>
                        <a:srgbClr val="9C5C34"/>
                      </a:solidFill>
                      <a:prstDash val="solid"/>
                      <a:round/>
                      <a:headEnd type="none" w="med" len="med"/>
                      <a:tailEnd type="none" w="med" len="med"/>
                    </a:lnB>
                  </a:tcPr>
                </a:tc>
                <a:tc>
                  <a:txBody>
                    <a:bodyPr/>
                    <a:lstStyle/>
                    <a:p>
                      <a:pPr algn="r" indent="0" marL="0">
                        <a:lnSpc>
                          <a:spcPts val="1893"/>
                        </a:lnSpc>
                        <a:buNone/>
                      </a:pPr>
                      <a:r>
                        <a:rPr lang="en-US" sz="1352" dirty="0">
                          <a:solidFill>
                            <a:srgbClr val="1A1008"/>
                          </a:solidFill>
                          <a:latin typeface="IBM Plex Sans" pitchFamily="34" charset="0"/>
                          <a:ea typeface="IBM Plex Sans" pitchFamily="34" charset="-122"/>
                          <a:cs typeface="IBM Plex Sans" pitchFamily="34" charset="-120"/>
                        </a:rPr>
                        <a:t>4</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9C5C34"/>
                      </a:solidFill>
                      <a:prstDash val="solid"/>
                      <a:round/>
                      <a:headEnd type="none" w="med" len="med"/>
                      <a:tailEnd type="none" w="med" len="med"/>
                    </a:lnL>
                    <a:lnR w="12700" cap="flat" cmpd="sng" algn="ctr">
                      <a:solidFill>
                        <a:srgbClr val="9C5C34"/>
                      </a:solidFill>
                      <a:prstDash val="solid"/>
                      <a:round/>
                      <a:headEnd type="none" w="med" len="med"/>
                      <a:tailEnd type="none" w="med" len="med"/>
                    </a:lnR>
                    <a:lnT w="12700" cap="flat" cmpd="sng" algn="ctr">
                      <a:solidFill>
                        <a:srgbClr val="9C5C34"/>
                      </a:solidFill>
                      <a:prstDash val="solid"/>
                      <a:round/>
                      <a:headEnd type="none" w="med" len="med"/>
                      <a:tailEnd type="none" w="med" len="med"/>
                    </a:lnT>
                    <a:lnB w="12700" cap="flat" cmpd="sng" algn="ctr">
                      <a:solidFill>
                        <a:srgbClr val="9C5C34"/>
                      </a:solidFill>
                      <a:prstDash val="solid"/>
                      <a:round/>
                      <a:headEnd type="none" w="med" len="med"/>
                      <a:tailEnd type="none" w="med" len="med"/>
                    </a:lnB>
                  </a:tcPr>
                </a:tc>
                <a:tc>
                  <a:txBody>
                    <a:bodyPr/>
                    <a:lstStyle/>
                    <a:p>
                      <a:pPr algn="r" indent="0" marL="0">
                        <a:lnSpc>
                          <a:spcPts val="1893"/>
                        </a:lnSpc>
                        <a:buNone/>
                      </a:pPr>
                      <a:r>
                        <a:rPr lang="en-US" sz="1352" dirty="0">
                          <a:solidFill>
                            <a:srgbClr val="1A1008"/>
                          </a:solidFill>
                          <a:latin typeface="IBM Plex Sans" pitchFamily="34" charset="0"/>
                          <a:ea typeface="IBM Plex Sans" pitchFamily="34" charset="-122"/>
                          <a:cs typeface="IBM Plex Sans" pitchFamily="34" charset="-120"/>
                        </a:rPr>
                        <a:t>2</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9C5C34"/>
                      </a:solidFill>
                      <a:prstDash val="solid"/>
                      <a:round/>
                      <a:headEnd type="none" w="med" len="med"/>
                      <a:tailEnd type="none" w="med" len="med"/>
                    </a:lnL>
                    <a:lnR w="12700" cap="flat" cmpd="sng" algn="ctr">
                      <a:solidFill>
                        <a:srgbClr val="9C5C34"/>
                      </a:solidFill>
                      <a:prstDash val="solid"/>
                      <a:round/>
                      <a:headEnd type="none" w="med" len="med"/>
                      <a:tailEnd type="none" w="med" len="med"/>
                    </a:lnR>
                    <a:lnT w="12700" cap="flat" cmpd="sng" algn="ctr">
                      <a:solidFill>
                        <a:srgbClr val="9C5C34"/>
                      </a:solidFill>
                      <a:prstDash val="solid"/>
                      <a:round/>
                      <a:headEnd type="none" w="med" len="med"/>
                      <a:tailEnd type="none" w="med" len="med"/>
                    </a:lnT>
                    <a:lnB w="12700" cap="flat" cmpd="sng" algn="ctr">
                      <a:solidFill>
                        <a:srgbClr val="9C5C34"/>
                      </a:solidFill>
                      <a:prstDash val="solid"/>
                      <a:round/>
                      <a:headEnd type="none" w="med" len="med"/>
                      <a:tailEnd type="none" w="med" len="med"/>
                    </a:lnB>
                  </a:tcPr>
                </a:tc>
              </a:tr>
              <a:tr h="373261">
                <a:tc>
                  <a:txBody>
                    <a:bodyPr/>
                    <a:lstStyle/>
                    <a:p>
                      <a:pPr indent="0" marL="0">
                        <a:lnSpc>
                          <a:spcPts val="1893"/>
                        </a:lnSpc>
                        <a:buNone/>
                      </a:pPr>
                      <a:r>
                        <a:rPr lang="en-US" sz="1352" dirty="0">
                          <a:solidFill>
                            <a:srgbClr val="1A1008"/>
                          </a:solidFill>
                          <a:latin typeface="IBM Plex Sans" pitchFamily="34" charset="0"/>
                          <a:ea typeface="IBM Plex Sans" pitchFamily="34" charset="-122"/>
                          <a:cs typeface="IBM Plex Sans" pitchFamily="34" charset="-120"/>
                        </a:rPr>
                        <a:t>OAS1</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9C5C34"/>
                      </a:solidFill>
                      <a:prstDash val="solid"/>
                      <a:round/>
                      <a:headEnd type="none" w="med" len="med"/>
                      <a:tailEnd type="none" w="med" len="med"/>
                    </a:lnL>
                    <a:lnR w="12700" cap="flat" cmpd="sng" algn="ctr">
                      <a:solidFill>
                        <a:srgbClr val="9C5C34"/>
                      </a:solidFill>
                      <a:prstDash val="solid"/>
                      <a:round/>
                      <a:headEnd type="none" w="med" len="med"/>
                      <a:tailEnd type="none" w="med" len="med"/>
                    </a:lnR>
                    <a:lnT w="12700" cap="flat" cmpd="sng" algn="ctr">
                      <a:solidFill>
                        <a:srgbClr val="9C5C34"/>
                      </a:solidFill>
                      <a:prstDash val="solid"/>
                      <a:round/>
                      <a:headEnd type="none" w="med" len="med"/>
                      <a:tailEnd type="none" w="med" len="med"/>
                    </a:lnT>
                    <a:lnB w="12700" cap="flat" cmpd="sng" algn="ctr">
                      <a:solidFill>
                        <a:srgbClr val="9C5C34"/>
                      </a:solidFill>
                      <a:prstDash val="solid"/>
                      <a:round/>
                      <a:headEnd type="none" w="med" len="med"/>
                      <a:tailEnd type="none" w="med" len="med"/>
                    </a:lnB>
                  </a:tcPr>
                </a:tc>
                <a:tc>
                  <a:txBody>
                    <a:bodyPr/>
                    <a:lstStyle/>
                    <a:p>
                      <a:pPr algn="r" indent="0" marL="0">
                        <a:lnSpc>
                          <a:spcPts val="1893"/>
                        </a:lnSpc>
                        <a:buNone/>
                      </a:pPr>
                      <a:r>
                        <a:rPr lang="en-US" sz="1352" dirty="0">
                          <a:solidFill>
                            <a:srgbClr val="1A1008"/>
                          </a:solidFill>
                          <a:latin typeface="IBM Plex Sans" pitchFamily="34" charset="0"/>
                          <a:ea typeface="IBM Plex Sans" pitchFamily="34" charset="-122"/>
                          <a:cs typeface="IBM Plex Sans" pitchFamily="34" charset="-120"/>
                        </a:rPr>
                        <a:t>6</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9C5C34"/>
                      </a:solidFill>
                      <a:prstDash val="solid"/>
                      <a:round/>
                      <a:headEnd type="none" w="med" len="med"/>
                      <a:tailEnd type="none" w="med" len="med"/>
                    </a:lnL>
                    <a:lnR w="12700" cap="flat" cmpd="sng" algn="ctr">
                      <a:solidFill>
                        <a:srgbClr val="9C5C34"/>
                      </a:solidFill>
                      <a:prstDash val="solid"/>
                      <a:round/>
                      <a:headEnd type="none" w="med" len="med"/>
                      <a:tailEnd type="none" w="med" len="med"/>
                    </a:lnR>
                    <a:lnT w="12700" cap="flat" cmpd="sng" algn="ctr">
                      <a:solidFill>
                        <a:srgbClr val="9C5C34"/>
                      </a:solidFill>
                      <a:prstDash val="solid"/>
                      <a:round/>
                      <a:headEnd type="none" w="med" len="med"/>
                      <a:tailEnd type="none" w="med" len="med"/>
                    </a:lnT>
                    <a:lnB w="12700" cap="flat" cmpd="sng" algn="ctr">
                      <a:solidFill>
                        <a:srgbClr val="9C5C34"/>
                      </a:solidFill>
                      <a:prstDash val="solid"/>
                      <a:round/>
                      <a:headEnd type="none" w="med" len="med"/>
                      <a:tailEnd type="none" w="med" len="med"/>
                    </a:lnB>
                  </a:tcPr>
                </a:tc>
                <a:tc>
                  <a:txBody>
                    <a:bodyPr/>
                    <a:lstStyle/>
                    <a:p>
                      <a:pPr algn="r" indent="0" marL="0">
                        <a:lnSpc>
                          <a:spcPts val="1893"/>
                        </a:lnSpc>
                        <a:buNone/>
                      </a:pPr>
                      <a:r>
                        <a:rPr lang="en-US" sz="1352" dirty="0">
                          <a:solidFill>
                            <a:srgbClr val="1A1008"/>
                          </a:solidFill>
                          <a:latin typeface="IBM Plex Sans" pitchFamily="34" charset="0"/>
                          <a:ea typeface="IBM Plex Sans" pitchFamily="34" charset="-122"/>
                          <a:cs typeface="IBM Plex Sans" pitchFamily="34" charset="-120"/>
                        </a:rPr>
                        <a:t>4</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9C5C34"/>
                      </a:solidFill>
                      <a:prstDash val="solid"/>
                      <a:round/>
                      <a:headEnd type="none" w="med" len="med"/>
                      <a:tailEnd type="none" w="med" len="med"/>
                    </a:lnL>
                    <a:lnR w="12700" cap="flat" cmpd="sng" algn="ctr">
                      <a:solidFill>
                        <a:srgbClr val="9C5C34"/>
                      </a:solidFill>
                      <a:prstDash val="solid"/>
                      <a:round/>
                      <a:headEnd type="none" w="med" len="med"/>
                      <a:tailEnd type="none" w="med" len="med"/>
                    </a:lnR>
                    <a:lnT w="12700" cap="flat" cmpd="sng" algn="ctr">
                      <a:solidFill>
                        <a:srgbClr val="9C5C34"/>
                      </a:solidFill>
                      <a:prstDash val="solid"/>
                      <a:round/>
                      <a:headEnd type="none" w="med" len="med"/>
                      <a:tailEnd type="none" w="med" len="med"/>
                    </a:lnT>
                    <a:lnB w="12700" cap="flat" cmpd="sng" algn="ctr">
                      <a:solidFill>
                        <a:srgbClr val="9C5C34"/>
                      </a:solidFill>
                      <a:prstDash val="solid"/>
                      <a:round/>
                      <a:headEnd type="none" w="med" len="med"/>
                      <a:tailEnd type="none" w="med" len="med"/>
                    </a:lnB>
                  </a:tcPr>
                </a:tc>
                <a:tc>
                  <a:txBody>
                    <a:bodyPr/>
                    <a:lstStyle/>
                    <a:p>
                      <a:pPr algn="r" indent="0" marL="0">
                        <a:lnSpc>
                          <a:spcPts val="1893"/>
                        </a:lnSpc>
                        <a:buNone/>
                      </a:pPr>
                      <a:r>
                        <a:rPr lang="en-US" sz="1352" dirty="0">
                          <a:solidFill>
                            <a:srgbClr val="1A1008"/>
                          </a:solidFill>
                          <a:latin typeface="IBM Plex Sans" pitchFamily="34" charset="0"/>
                          <a:ea typeface="IBM Plex Sans" pitchFamily="34" charset="-122"/>
                          <a:cs typeface="IBM Plex Sans" pitchFamily="34" charset="-120"/>
                        </a:rPr>
                        <a:t>2</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9C5C34"/>
                      </a:solidFill>
                      <a:prstDash val="solid"/>
                      <a:round/>
                      <a:headEnd type="none" w="med" len="med"/>
                      <a:tailEnd type="none" w="med" len="med"/>
                    </a:lnL>
                    <a:lnR w="12700" cap="flat" cmpd="sng" algn="ctr">
                      <a:solidFill>
                        <a:srgbClr val="9C5C34"/>
                      </a:solidFill>
                      <a:prstDash val="solid"/>
                      <a:round/>
                      <a:headEnd type="none" w="med" len="med"/>
                      <a:tailEnd type="none" w="med" len="med"/>
                    </a:lnR>
                    <a:lnT w="12700" cap="flat" cmpd="sng" algn="ctr">
                      <a:solidFill>
                        <a:srgbClr val="9C5C34"/>
                      </a:solidFill>
                      <a:prstDash val="solid"/>
                      <a:round/>
                      <a:headEnd type="none" w="med" len="med"/>
                      <a:tailEnd type="none" w="med" len="med"/>
                    </a:lnT>
                    <a:lnB w="12700" cap="flat" cmpd="sng" algn="ctr">
                      <a:solidFill>
                        <a:srgbClr val="9C5C34"/>
                      </a:solidFill>
                      <a:prstDash val="solid"/>
                      <a:round/>
                      <a:headEnd type="none" w="med" len="med"/>
                      <a:tailEnd type="none" w="med" len="med"/>
                    </a:lnB>
                  </a:tcPr>
                </a:tc>
              </a:tr>
              <a:tr h="373261">
                <a:tc>
                  <a:txBody>
                    <a:bodyPr/>
                    <a:lstStyle/>
                    <a:p>
                      <a:pPr indent="0" marL="0">
                        <a:lnSpc>
                          <a:spcPts val="1893"/>
                        </a:lnSpc>
                        <a:buNone/>
                      </a:pPr>
                      <a:r>
                        <a:rPr lang="en-US" sz="1352" dirty="0">
                          <a:solidFill>
                            <a:srgbClr val="1A1008"/>
                          </a:solidFill>
                          <a:latin typeface="IBM Plex Sans" pitchFamily="34" charset="0"/>
                          <a:ea typeface="IBM Plex Sans" pitchFamily="34" charset="-122"/>
                          <a:cs typeface="IBM Plex Sans" pitchFamily="34" charset="-120"/>
                        </a:rPr>
                        <a:t>SNCG</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9C5C34"/>
                      </a:solidFill>
                      <a:prstDash val="solid"/>
                      <a:round/>
                      <a:headEnd type="none" w="med" len="med"/>
                      <a:tailEnd type="none" w="med" len="med"/>
                    </a:lnL>
                    <a:lnR w="12700" cap="flat" cmpd="sng" algn="ctr">
                      <a:solidFill>
                        <a:srgbClr val="9C5C34"/>
                      </a:solidFill>
                      <a:prstDash val="solid"/>
                      <a:round/>
                      <a:headEnd type="none" w="med" len="med"/>
                      <a:tailEnd type="none" w="med" len="med"/>
                    </a:lnR>
                    <a:lnT w="12700" cap="flat" cmpd="sng" algn="ctr">
                      <a:solidFill>
                        <a:srgbClr val="9C5C34"/>
                      </a:solidFill>
                      <a:prstDash val="solid"/>
                      <a:round/>
                      <a:headEnd type="none" w="med" len="med"/>
                      <a:tailEnd type="none" w="med" len="med"/>
                    </a:lnT>
                    <a:lnB w="12700" cap="flat" cmpd="sng" algn="ctr">
                      <a:solidFill>
                        <a:srgbClr val="9C5C34"/>
                      </a:solidFill>
                      <a:prstDash val="solid"/>
                      <a:round/>
                      <a:headEnd type="none" w="med" len="med"/>
                      <a:tailEnd type="none" w="med" len="med"/>
                    </a:lnB>
                  </a:tcPr>
                </a:tc>
                <a:tc>
                  <a:txBody>
                    <a:bodyPr/>
                    <a:lstStyle/>
                    <a:p>
                      <a:pPr algn="r" indent="0" marL="0">
                        <a:lnSpc>
                          <a:spcPts val="1893"/>
                        </a:lnSpc>
                        <a:buNone/>
                      </a:pPr>
                      <a:r>
                        <a:rPr lang="en-US" sz="1352" dirty="0">
                          <a:solidFill>
                            <a:srgbClr val="1A1008"/>
                          </a:solidFill>
                          <a:latin typeface="IBM Plex Sans" pitchFamily="34" charset="0"/>
                          <a:ea typeface="IBM Plex Sans" pitchFamily="34" charset="-122"/>
                          <a:cs typeface="IBM Plex Sans" pitchFamily="34" charset="-120"/>
                        </a:rPr>
                        <a:t>6</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9C5C34"/>
                      </a:solidFill>
                      <a:prstDash val="solid"/>
                      <a:round/>
                      <a:headEnd type="none" w="med" len="med"/>
                      <a:tailEnd type="none" w="med" len="med"/>
                    </a:lnL>
                    <a:lnR w="12700" cap="flat" cmpd="sng" algn="ctr">
                      <a:solidFill>
                        <a:srgbClr val="9C5C34"/>
                      </a:solidFill>
                      <a:prstDash val="solid"/>
                      <a:round/>
                      <a:headEnd type="none" w="med" len="med"/>
                      <a:tailEnd type="none" w="med" len="med"/>
                    </a:lnR>
                    <a:lnT w="12700" cap="flat" cmpd="sng" algn="ctr">
                      <a:solidFill>
                        <a:srgbClr val="9C5C34"/>
                      </a:solidFill>
                      <a:prstDash val="solid"/>
                      <a:round/>
                      <a:headEnd type="none" w="med" len="med"/>
                      <a:tailEnd type="none" w="med" len="med"/>
                    </a:lnT>
                    <a:lnB w="12700" cap="flat" cmpd="sng" algn="ctr">
                      <a:solidFill>
                        <a:srgbClr val="9C5C34"/>
                      </a:solidFill>
                      <a:prstDash val="solid"/>
                      <a:round/>
                      <a:headEnd type="none" w="med" len="med"/>
                      <a:tailEnd type="none" w="med" len="med"/>
                    </a:lnB>
                  </a:tcPr>
                </a:tc>
                <a:tc>
                  <a:txBody>
                    <a:bodyPr/>
                    <a:lstStyle/>
                    <a:p>
                      <a:pPr algn="r" indent="0" marL="0">
                        <a:lnSpc>
                          <a:spcPts val="1893"/>
                        </a:lnSpc>
                        <a:buNone/>
                      </a:pPr>
                      <a:r>
                        <a:rPr lang="en-US" sz="1352" dirty="0">
                          <a:solidFill>
                            <a:srgbClr val="1A1008"/>
                          </a:solidFill>
                          <a:latin typeface="IBM Plex Sans" pitchFamily="34" charset="0"/>
                          <a:ea typeface="IBM Plex Sans" pitchFamily="34" charset="-122"/>
                          <a:cs typeface="IBM Plex Sans" pitchFamily="34" charset="-120"/>
                        </a:rPr>
                        <a:t>4</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9C5C34"/>
                      </a:solidFill>
                      <a:prstDash val="solid"/>
                      <a:round/>
                      <a:headEnd type="none" w="med" len="med"/>
                      <a:tailEnd type="none" w="med" len="med"/>
                    </a:lnL>
                    <a:lnR w="12700" cap="flat" cmpd="sng" algn="ctr">
                      <a:solidFill>
                        <a:srgbClr val="9C5C34"/>
                      </a:solidFill>
                      <a:prstDash val="solid"/>
                      <a:round/>
                      <a:headEnd type="none" w="med" len="med"/>
                      <a:tailEnd type="none" w="med" len="med"/>
                    </a:lnR>
                    <a:lnT w="12700" cap="flat" cmpd="sng" algn="ctr">
                      <a:solidFill>
                        <a:srgbClr val="9C5C34"/>
                      </a:solidFill>
                      <a:prstDash val="solid"/>
                      <a:round/>
                      <a:headEnd type="none" w="med" len="med"/>
                      <a:tailEnd type="none" w="med" len="med"/>
                    </a:lnT>
                    <a:lnB w="12700" cap="flat" cmpd="sng" algn="ctr">
                      <a:solidFill>
                        <a:srgbClr val="9C5C34"/>
                      </a:solidFill>
                      <a:prstDash val="solid"/>
                      <a:round/>
                      <a:headEnd type="none" w="med" len="med"/>
                      <a:tailEnd type="none" w="med" len="med"/>
                    </a:lnB>
                  </a:tcPr>
                </a:tc>
                <a:tc>
                  <a:txBody>
                    <a:bodyPr/>
                    <a:lstStyle/>
                    <a:p>
                      <a:pPr algn="r" indent="0" marL="0">
                        <a:lnSpc>
                          <a:spcPts val="1893"/>
                        </a:lnSpc>
                        <a:buNone/>
                      </a:pPr>
                      <a:r>
                        <a:rPr lang="en-US" sz="1352" dirty="0">
                          <a:solidFill>
                            <a:srgbClr val="1A1008"/>
                          </a:solidFill>
                          <a:latin typeface="IBM Plex Sans" pitchFamily="34" charset="0"/>
                          <a:ea typeface="IBM Plex Sans" pitchFamily="34" charset="-122"/>
                          <a:cs typeface="IBM Plex Sans" pitchFamily="34" charset="-120"/>
                        </a:rPr>
                        <a:t>2</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9C5C34"/>
                      </a:solidFill>
                      <a:prstDash val="solid"/>
                      <a:round/>
                      <a:headEnd type="none" w="med" len="med"/>
                      <a:tailEnd type="none" w="med" len="med"/>
                    </a:lnL>
                    <a:lnR w="12700" cap="flat" cmpd="sng" algn="ctr">
                      <a:solidFill>
                        <a:srgbClr val="9C5C34"/>
                      </a:solidFill>
                      <a:prstDash val="solid"/>
                      <a:round/>
                      <a:headEnd type="none" w="med" len="med"/>
                      <a:tailEnd type="none" w="med" len="med"/>
                    </a:lnR>
                    <a:lnT w="12700" cap="flat" cmpd="sng" algn="ctr">
                      <a:solidFill>
                        <a:srgbClr val="9C5C34"/>
                      </a:solidFill>
                      <a:prstDash val="solid"/>
                      <a:round/>
                      <a:headEnd type="none" w="med" len="med"/>
                      <a:tailEnd type="none" w="med" len="med"/>
                    </a:lnT>
                    <a:lnB w="12700" cap="flat" cmpd="sng" algn="ctr">
                      <a:solidFill>
                        <a:srgbClr val="9C5C34"/>
                      </a:solidFill>
                      <a:prstDash val="solid"/>
                      <a:round/>
                      <a:headEnd type="none" w="med" len="med"/>
                      <a:tailEnd type="none" w="med" len="med"/>
                    </a:lnB>
                  </a:tcPr>
                </a:tc>
              </a:tr>
              <a:tr h="373261">
                <a:tc>
                  <a:txBody>
                    <a:bodyPr/>
                    <a:lstStyle/>
                    <a:p>
                      <a:pPr indent="0" marL="0">
                        <a:lnSpc>
                          <a:spcPts val="1893"/>
                        </a:lnSpc>
                        <a:buNone/>
                      </a:pPr>
                      <a:r>
                        <a:rPr lang="en-US" sz="1352" dirty="0">
                          <a:solidFill>
                            <a:srgbClr val="1A1008"/>
                          </a:solidFill>
                          <a:latin typeface="IBM Plex Sans" pitchFamily="34" charset="0"/>
                          <a:ea typeface="IBM Plex Sans" pitchFamily="34" charset="-122"/>
                          <a:cs typeface="IBM Plex Sans" pitchFamily="34" charset="-120"/>
                        </a:rPr>
                        <a:t>APOL1</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9C5C34"/>
                      </a:solidFill>
                      <a:prstDash val="solid"/>
                      <a:round/>
                      <a:headEnd type="none" w="med" len="med"/>
                      <a:tailEnd type="none" w="med" len="med"/>
                    </a:lnL>
                    <a:lnR w="12700" cap="flat" cmpd="sng" algn="ctr">
                      <a:solidFill>
                        <a:srgbClr val="9C5C34"/>
                      </a:solidFill>
                      <a:prstDash val="solid"/>
                      <a:round/>
                      <a:headEnd type="none" w="med" len="med"/>
                      <a:tailEnd type="none" w="med" len="med"/>
                    </a:lnR>
                    <a:lnT w="12700" cap="flat" cmpd="sng" algn="ctr">
                      <a:solidFill>
                        <a:srgbClr val="9C5C34"/>
                      </a:solidFill>
                      <a:prstDash val="solid"/>
                      <a:round/>
                      <a:headEnd type="none" w="med" len="med"/>
                      <a:tailEnd type="none" w="med" len="med"/>
                    </a:lnT>
                    <a:lnB w="12700" cap="flat" cmpd="sng" algn="ctr">
                      <a:solidFill>
                        <a:srgbClr val="9C5C34"/>
                      </a:solidFill>
                      <a:prstDash val="solid"/>
                      <a:round/>
                      <a:headEnd type="none" w="med" len="med"/>
                      <a:tailEnd type="none" w="med" len="med"/>
                    </a:lnB>
                  </a:tcPr>
                </a:tc>
                <a:tc>
                  <a:txBody>
                    <a:bodyPr/>
                    <a:lstStyle/>
                    <a:p>
                      <a:pPr algn="r" indent="0" marL="0">
                        <a:lnSpc>
                          <a:spcPts val="1893"/>
                        </a:lnSpc>
                        <a:buNone/>
                      </a:pPr>
                      <a:r>
                        <a:rPr lang="en-US" sz="1352" dirty="0">
                          <a:solidFill>
                            <a:srgbClr val="1A1008"/>
                          </a:solidFill>
                          <a:latin typeface="IBM Plex Sans" pitchFamily="34" charset="0"/>
                          <a:ea typeface="IBM Plex Sans" pitchFamily="34" charset="-122"/>
                          <a:cs typeface="IBM Plex Sans" pitchFamily="34" charset="-120"/>
                        </a:rPr>
                        <a:t>6</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9C5C34"/>
                      </a:solidFill>
                      <a:prstDash val="solid"/>
                      <a:round/>
                      <a:headEnd type="none" w="med" len="med"/>
                      <a:tailEnd type="none" w="med" len="med"/>
                    </a:lnL>
                    <a:lnR w="12700" cap="flat" cmpd="sng" algn="ctr">
                      <a:solidFill>
                        <a:srgbClr val="9C5C34"/>
                      </a:solidFill>
                      <a:prstDash val="solid"/>
                      <a:round/>
                      <a:headEnd type="none" w="med" len="med"/>
                      <a:tailEnd type="none" w="med" len="med"/>
                    </a:lnR>
                    <a:lnT w="12700" cap="flat" cmpd="sng" algn="ctr">
                      <a:solidFill>
                        <a:srgbClr val="9C5C34"/>
                      </a:solidFill>
                      <a:prstDash val="solid"/>
                      <a:round/>
                      <a:headEnd type="none" w="med" len="med"/>
                      <a:tailEnd type="none" w="med" len="med"/>
                    </a:lnT>
                    <a:lnB w="12700" cap="flat" cmpd="sng" algn="ctr">
                      <a:solidFill>
                        <a:srgbClr val="9C5C34"/>
                      </a:solidFill>
                      <a:prstDash val="solid"/>
                      <a:round/>
                      <a:headEnd type="none" w="med" len="med"/>
                      <a:tailEnd type="none" w="med" len="med"/>
                    </a:lnB>
                  </a:tcPr>
                </a:tc>
                <a:tc>
                  <a:txBody>
                    <a:bodyPr/>
                    <a:lstStyle/>
                    <a:p>
                      <a:pPr algn="r" indent="0" marL="0">
                        <a:lnSpc>
                          <a:spcPts val="1893"/>
                        </a:lnSpc>
                        <a:buNone/>
                      </a:pPr>
                      <a:r>
                        <a:rPr lang="en-US" sz="1352" dirty="0">
                          <a:solidFill>
                            <a:srgbClr val="1A1008"/>
                          </a:solidFill>
                          <a:latin typeface="IBM Plex Sans" pitchFamily="34" charset="0"/>
                          <a:ea typeface="IBM Plex Sans" pitchFamily="34" charset="-122"/>
                          <a:cs typeface="IBM Plex Sans" pitchFamily="34" charset="-120"/>
                        </a:rPr>
                        <a:t>3</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9C5C34"/>
                      </a:solidFill>
                      <a:prstDash val="solid"/>
                      <a:round/>
                      <a:headEnd type="none" w="med" len="med"/>
                      <a:tailEnd type="none" w="med" len="med"/>
                    </a:lnL>
                    <a:lnR w="12700" cap="flat" cmpd="sng" algn="ctr">
                      <a:solidFill>
                        <a:srgbClr val="9C5C34"/>
                      </a:solidFill>
                      <a:prstDash val="solid"/>
                      <a:round/>
                      <a:headEnd type="none" w="med" len="med"/>
                      <a:tailEnd type="none" w="med" len="med"/>
                    </a:lnR>
                    <a:lnT w="12700" cap="flat" cmpd="sng" algn="ctr">
                      <a:solidFill>
                        <a:srgbClr val="9C5C34"/>
                      </a:solidFill>
                      <a:prstDash val="solid"/>
                      <a:round/>
                      <a:headEnd type="none" w="med" len="med"/>
                      <a:tailEnd type="none" w="med" len="med"/>
                    </a:lnT>
                    <a:lnB w="12700" cap="flat" cmpd="sng" algn="ctr">
                      <a:solidFill>
                        <a:srgbClr val="9C5C34"/>
                      </a:solidFill>
                      <a:prstDash val="solid"/>
                      <a:round/>
                      <a:headEnd type="none" w="med" len="med"/>
                      <a:tailEnd type="none" w="med" len="med"/>
                    </a:lnB>
                  </a:tcPr>
                </a:tc>
                <a:tc>
                  <a:txBody>
                    <a:bodyPr/>
                    <a:lstStyle/>
                    <a:p>
                      <a:pPr algn="r" indent="0" marL="0">
                        <a:lnSpc>
                          <a:spcPts val="1893"/>
                        </a:lnSpc>
                        <a:buNone/>
                      </a:pPr>
                      <a:r>
                        <a:rPr lang="en-US" sz="1352" dirty="0">
                          <a:solidFill>
                            <a:srgbClr val="1A1008"/>
                          </a:solidFill>
                          <a:latin typeface="IBM Plex Sans" pitchFamily="34" charset="0"/>
                          <a:ea typeface="IBM Plex Sans" pitchFamily="34" charset="-122"/>
                          <a:cs typeface="IBM Plex Sans" pitchFamily="34" charset="-120"/>
                        </a:rPr>
                        <a:t>3</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9C5C34"/>
                      </a:solidFill>
                      <a:prstDash val="solid"/>
                      <a:round/>
                      <a:headEnd type="none" w="med" len="med"/>
                      <a:tailEnd type="none" w="med" len="med"/>
                    </a:lnL>
                    <a:lnR w="12700" cap="flat" cmpd="sng" algn="ctr">
                      <a:solidFill>
                        <a:srgbClr val="9C5C34"/>
                      </a:solidFill>
                      <a:prstDash val="solid"/>
                      <a:round/>
                      <a:headEnd type="none" w="med" len="med"/>
                      <a:tailEnd type="none" w="med" len="med"/>
                    </a:lnR>
                    <a:lnT w="12700" cap="flat" cmpd="sng" algn="ctr">
                      <a:solidFill>
                        <a:srgbClr val="9C5C34"/>
                      </a:solidFill>
                      <a:prstDash val="solid"/>
                      <a:round/>
                      <a:headEnd type="none" w="med" len="med"/>
                      <a:tailEnd type="none" w="med" len="med"/>
                    </a:lnT>
                    <a:lnB w="12700" cap="flat" cmpd="sng" algn="ctr">
                      <a:solidFill>
                        <a:srgbClr val="9C5C34"/>
                      </a:solidFill>
                      <a:prstDash val="solid"/>
                      <a:round/>
                      <a:headEnd type="none" w="med" len="med"/>
                      <a:tailEnd type="none" w="med" len="med"/>
                    </a:lnB>
                  </a:tcPr>
                </a:tc>
              </a:tr>
              <a:tr h="373261">
                <a:tc>
                  <a:txBody>
                    <a:bodyPr/>
                    <a:lstStyle/>
                    <a:p>
                      <a:pPr indent="0" marL="0">
                        <a:lnSpc>
                          <a:spcPts val="1893"/>
                        </a:lnSpc>
                        <a:buNone/>
                      </a:pPr>
                      <a:r>
                        <a:rPr lang="en-US" sz="1352" dirty="0">
                          <a:solidFill>
                            <a:srgbClr val="1A1008"/>
                          </a:solidFill>
                          <a:latin typeface="IBM Plex Sans" pitchFamily="34" charset="0"/>
                          <a:ea typeface="IBM Plex Sans" pitchFamily="34" charset="-122"/>
                          <a:cs typeface="IBM Plex Sans" pitchFamily="34" charset="-120"/>
                        </a:rPr>
                        <a:t>CYP27A1</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9C5C34"/>
                      </a:solidFill>
                      <a:prstDash val="solid"/>
                      <a:round/>
                      <a:headEnd type="none" w="med" len="med"/>
                      <a:tailEnd type="none" w="med" len="med"/>
                    </a:lnL>
                    <a:lnR w="12700" cap="flat" cmpd="sng" algn="ctr">
                      <a:solidFill>
                        <a:srgbClr val="9C5C34"/>
                      </a:solidFill>
                      <a:prstDash val="solid"/>
                      <a:round/>
                      <a:headEnd type="none" w="med" len="med"/>
                      <a:tailEnd type="none" w="med" len="med"/>
                    </a:lnR>
                    <a:lnT w="12700" cap="flat" cmpd="sng" algn="ctr">
                      <a:solidFill>
                        <a:srgbClr val="9C5C34"/>
                      </a:solidFill>
                      <a:prstDash val="solid"/>
                      <a:round/>
                      <a:headEnd type="none" w="med" len="med"/>
                      <a:tailEnd type="none" w="med" len="med"/>
                    </a:lnT>
                    <a:lnB w="12700" cap="flat" cmpd="sng" algn="ctr">
                      <a:solidFill>
                        <a:srgbClr val="9C5C34"/>
                      </a:solidFill>
                      <a:prstDash val="solid"/>
                      <a:round/>
                      <a:headEnd type="none" w="med" len="med"/>
                      <a:tailEnd type="none" w="med" len="med"/>
                    </a:lnB>
                  </a:tcPr>
                </a:tc>
                <a:tc>
                  <a:txBody>
                    <a:bodyPr/>
                    <a:lstStyle/>
                    <a:p>
                      <a:pPr algn="r" indent="0" marL="0">
                        <a:lnSpc>
                          <a:spcPts val="1893"/>
                        </a:lnSpc>
                        <a:buNone/>
                      </a:pPr>
                      <a:r>
                        <a:rPr lang="en-US" sz="1352" dirty="0">
                          <a:solidFill>
                            <a:srgbClr val="1A1008"/>
                          </a:solidFill>
                          <a:latin typeface="IBM Plex Sans" pitchFamily="34" charset="0"/>
                          <a:ea typeface="IBM Plex Sans" pitchFamily="34" charset="-122"/>
                          <a:cs typeface="IBM Plex Sans" pitchFamily="34" charset="-120"/>
                        </a:rPr>
                        <a:t>6</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9C5C34"/>
                      </a:solidFill>
                      <a:prstDash val="solid"/>
                      <a:round/>
                      <a:headEnd type="none" w="med" len="med"/>
                      <a:tailEnd type="none" w="med" len="med"/>
                    </a:lnL>
                    <a:lnR w="12700" cap="flat" cmpd="sng" algn="ctr">
                      <a:solidFill>
                        <a:srgbClr val="9C5C34"/>
                      </a:solidFill>
                      <a:prstDash val="solid"/>
                      <a:round/>
                      <a:headEnd type="none" w="med" len="med"/>
                      <a:tailEnd type="none" w="med" len="med"/>
                    </a:lnR>
                    <a:lnT w="12700" cap="flat" cmpd="sng" algn="ctr">
                      <a:solidFill>
                        <a:srgbClr val="9C5C34"/>
                      </a:solidFill>
                      <a:prstDash val="solid"/>
                      <a:round/>
                      <a:headEnd type="none" w="med" len="med"/>
                      <a:tailEnd type="none" w="med" len="med"/>
                    </a:lnT>
                    <a:lnB w="12700" cap="flat" cmpd="sng" algn="ctr">
                      <a:solidFill>
                        <a:srgbClr val="9C5C34"/>
                      </a:solidFill>
                      <a:prstDash val="solid"/>
                      <a:round/>
                      <a:headEnd type="none" w="med" len="med"/>
                      <a:tailEnd type="none" w="med" len="med"/>
                    </a:lnB>
                  </a:tcPr>
                </a:tc>
                <a:tc>
                  <a:txBody>
                    <a:bodyPr/>
                    <a:lstStyle/>
                    <a:p>
                      <a:pPr algn="r" indent="0" marL="0">
                        <a:lnSpc>
                          <a:spcPts val="1893"/>
                        </a:lnSpc>
                        <a:buNone/>
                      </a:pPr>
                      <a:r>
                        <a:rPr lang="en-US" sz="1352" dirty="0">
                          <a:solidFill>
                            <a:srgbClr val="1A1008"/>
                          </a:solidFill>
                          <a:latin typeface="IBM Plex Sans" pitchFamily="34" charset="0"/>
                          <a:ea typeface="IBM Plex Sans" pitchFamily="34" charset="-122"/>
                          <a:cs typeface="IBM Plex Sans" pitchFamily="34" charset="-120"/>
                        </a:rPr>
                        <a:t>1</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9C5C34"/>
                      </a:solidFill>
                      <a:prstDash val="solid"/>
                      <a:round/>
                      <a:headEnd type="none" w="med" len="med"/>
                      <a:tailEnd type="none" w="med" len="med"/>
                    </a:lnL>
                    <a:lnR w="12700" cap="flat" cmpd="sng" algn="ctr">
                      <a:solidFill>
                        <a:srgbClr val="9C5C34"/>
                      </a:solidFill>
                      <a:prstDash val="solid"/>
                      <a:round/>
                      <a:headEnd type="none" w="med" len="med"/>
                      <a:tailEnd type="none" w="med" len="med"/>
                    </a:lnR>
                    <a:lnT w="12700" cap="flat" cmpd="sng" algn="ctr">
                      <a:solidFill>
                        <a:srgbClr val="9C5C34"/>
                      </a:solidFill>
                      <a:prstDash val="solid"/>
                      <a:round/>
                      <a:headEnd type="none" w="med" len="med"/>
                      <a:tailEnd type="none" w="med" len="med"/>
                    </a:lnT>
                    <a:lnB w="12700" cap="flat" cmpd="sng" algn="ctr">
                      <a:solidFill>
                        <a:srgbClr val="9C5C34"/>
                      </a:solidFill>
                      <a:prstDash val="solid"/>
                      <a:round/>
                      <a:headEnd type="none" w="med" len="med"/>
                      <a:tailEnd type="none" w="med" len="med"/>
                    </a:lnB>
                  </a:tcPr>
                </a:tc>
                <a:tc>
                  <a:txBody>
                    <a:bodyPr/>
                    <a:lstStyle/>
                    <a:p>
                      <a:pPr algn="r" indent="0" marL="0">
                        <a:lnSpc>
                          <a:spcPts val="1893"/>
                        </a:lnSpc>
                        <a:buNone/>
                      </a:pPr>
                      <a:r>
                        <a:rPr lang="en-US" sz="1352" dirty="0">
                          <a:solidFill>
                            <a:srgbClr val="1A1008"/>
                          </a:solidFill>
                          <a:latin typeface="IBM Plex Sans" pitchFamily="34" charset="0"/>
                          <a:ea typeface="IBM Plex Sans" pitchFamily="34" charset="-122"/>
                          <a:cs typeface="IBM Plex Sans" pitchFamily="34" charset="-120"/>
                        </a:rPr>
                        <a:t>5</a:t>
                      </a:r>
                      <a:endParaRPr lang="en-US" sz="1352" dirty="0">
                        <a:latin typeface="IBM Plex Sans" charset="0"/>
                        <a:ea typeface="IBM Plex Sans" charset="0"/>
                        <a:cs typeface="IBM Plex Sans" charset="0"/>
                      </a:endParaRPr>
                    </a:p>
                  </a:txBody>
                  <a:tcPr marL="60091" marR="60091" marT="60091" marB="60091" anchor="t">
                    <a:lnL w="12700" cap="flat" cmpd="sng" algn="ctr">
                      <a:solidFill>
                        <a:srgbClr val="9C5C34"/>
                      </a:solidFill>
                      <a:prstDash val="solid"/>
                      <a:round/>
                      <a:headEnd type="none" w="med" len="med"/>
                      <a:tailEnd type="none" w="med" len="med"/>
                    </a:lnL>
                    <a:lnR w="12700" cap="flat" cmpd="sng" algn="ctr">
                      <a:solidFill>
                        <a:srgbClr val="9C5C34"/>
                      </a:solidFill>
                      <a:prstDash val="solid"/>
                      <a:round/>
                      <a:headEnd type="none" w="med" len="med"/>
                      <a:tailEnd type="none" w="med" len="med"/>
                    </a:lnR>
                    <a:lnT w="12700" cap="flat" cmpd="sng" algn="ctr">
                      <a:solidFill>
                        <a:srgbClr val="9C5C34"/>
                      </a:solidFill>
                      <a:prstDash val="solid"/>
                      <a:round/>
                      <a:headEnd type="none" w="med" len="med"/>
                      <a:tailEnd type="none" w="med" len="med"/>
                    </a:lnT>
                    <a:lnB w="12700" cap="flat" cmpd="sng" algn="ctr">
                      <a:solidFill>
                        <a:srgbClr val="9C5C34"/>
                      </a:solidFill>
                      <a:prstDash val="solid"/>
                      <a:round/>
                      <a:headEnd type="none" w="med" len="med"/>
                      <a:tailEnd type="none" w="med" len="med"/>
                    </a:lnB>
                  </a:tcPr>
                </a:tc>
              </a:tr>
            </a:tbl>
          </a:graphicData>
        </a:graphic>
      </p:graphicFrame>
      <p:sp>
        <p:nvSpPr>
          <p:cNvPr id="5" name="Text 2"/>
          <p:cNvSpPr/>
          <p:nvPr/>
        </p:nvSpPr>
        <p:spPr>
          <a:xfrm>
            <a:off x="812800" y="6238280"/>
            <a:ext cx="87841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3020"/>
                </a:solidFill>
                <a:latin typeface="IBM Plex Sans" pitchFamily="34" charset="0"/>
                <a:ea typeface="IBM Plex Sans" pitchFamily="34" charset="-122"/>
                <a:cs typeface="IBM Plex Sans" pitchFamily="34" charset="-120"/>
              </a:rPr>
              <a:t>1,257 of 2,611 recurrent genes are discordant · directions replicate on held-out patients within each cohort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1439335" cy="103118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1A1F"/>
                </a:solidFill>
                <a:latin typeface="Source Serif 4" pitchFamily="18" charset="0"/>
                <a:ea typeface="Source Serif 4" pitchFamily="18" charset="-122"/>
                <a:cs typeface="Source Serif 4" pitchFamily="18" charset="-120"/>
              </a:rPr>
              <a:t>The immune microenvironment drives the reversals</a:t>
            </a:r>
            <a:endParaRPr lang="en-US" sz="3600" dirty="0"/>
          </a:p>
        </p:txBody>
      </p:sp>
      <p:sp>
        <p:nvSpPr>
          <p:cNvPr id="3" name="Shape 1"/>
          <p:cNvSpPr/>
          <p:nvPr/>
        </p:nvSpPr>
        <p:spPr>
          <a:xfrm>
            <a:off x="815975" y="2075755"/>
            <a:ext cx="3380284" cy="2416671"/>
          </a:xfrm>
          <a:prstGeom prst="roundRect">
            <a:avLst>
              <a:gd name="adj" fmla="val 4073"/>
            </a:avLst>
          </a:prstGeom>
          <a:solidFill>
            <a:srgbClr val="FDFDFB"/>
          </a:solidFill>
          <a:ln w="6350">
            <a:solidFill>
              <a:srgbClr val="DDE0DC"/>
            </a:solidFill>
            <a:prstDash val="solid"/>
          </a:ln>
        </p:spPr>
      </p:sp>
      <p:sp>
        <p:nvSpPr>
          <p:cNvPr id="4" name="Text 2"/>
          <p:cNvSpPr/>
          <p:nvPr/>
        </p:nvSpPr>
        <p:spPr>
          <a:xfrm>
            <a:off x="1123950" y="2383730"/>
            <a:ext cx="2847264"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41A1F"/>
                </a:solidFill>
                <a:latin typeface="IBM Plex Sans" pitchFamily="34" charset="0"/>
                <a:ea typeface="IBM Plex Sans" pitchFamily="34" charset="-122"/>
                <a:cs typeface="IBM Plex Sans" pitchFamily="34" charset="-120"/>
              </a:rPr>
              <a:t>Immune-responsive</a:t>
            </a:r>
            <a:endParaRPr lang="en-US" sz="1600" dirty="0"/>
          </a:p>
        </p:txBody>
      </p:sp>
      <p:sp>
        <p:nvSpPr>
          <p:cNvPr id="5" name="Text 3"/>
          <p:cNvSpPr/>
          <p:nvPr/>
        </p:nvSpPr>
        <p:spPr>
          <a:xfrm>
            <a:off x="1123950" y="2729161"/>
            <a:ext cx="284726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6F8B"/>
                </a:solidFill>
                <a:latin typeface="IBM Plex Sans" pitchFamily="34" charset="0"/>
                <a:ea typeface="IBM Plex Sans" pitchFamily="34" charset="-122"/>
                <a:cs typeface="IBM Plex Sans" pitchFamily="34" charset="-120"/>
              </a:rPr>
              <a:t>Protective</a:t>
            </a:r>
            <a:endParaRPr lang="en-US" sz="1400" dirty="0"/>
          </a:p>
        </p:txBody>
      </p:sp>
      <p:sp>
        <p:nvSpPr>
          <p:cNvPr id="6" name="Text 4"/>
          <p:cNvSpPr/>
          <p:nvPr/>
        </p:nvSpPr>
        <p:spPr>
          <a:xfrm>
            <a:off x="1123950" y="3079651"/>
            <a:ext cx="2847264" cy="113020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0"/>
                </a:solidFill>
                <a:latin typeface="IBM Plex Sans" pitchFamily="34" charset="0"/>
                <a:ea typeface="IBM Plex Sans" pitchFamily="34" charset="-122"/>
                <a:cs typeface="IBM Plex Sans" pitchFamily="34" charset="-120"/>
              </a:rPr>
              <a:t>Melanoma, head and neck, endometrial, bladder. High mutation burden or viral antigens, where infiltrating cytotoxic T cells and interferon signalling reflect active anti-tumour immunity.</a:t>
            </a:r>
            <a:endParaRPr lang="en-US" sz="1200" dirty="0"/>
          </a:p>
        </p:txBody>
      </p:sp>
      <p:sp>
        <p:nvSpPr>
          <p:cNvPr id="7" name="Shape 5"/>
          <p:cNvSpPr/>
          <p:nvPr/>
        </p:nvSpPr>
        <p:spPr>
          <a:xfrm>
            <a:off x="4405809" y="2075755"/>
            <a:ext cx="3380333" cy="2416671"/>
          </a:xfrm>
          <a:prstGeom prst="roundRect">
            <a:avLst>
              <a:gd name="adj" fmla="val 4073"/>
            </a:avLst>
          </a:prstGeom>
          <a:solidFill>
            <a:srgbClr val="FDFDFB"/>
          </a:solidFill>
          <a:ln w="6350">
            <a:solidFill>
              <a:srgbClr val="DDE0DC"/>
            </a:solidFill>
            <a:prstDash val="solid"/>
          </a:ln>
        </p:spPr>
      </p:sp>
      <p:sp>
        <p:nvSpPr>
          <p:cNvPr id="8" name="Text 6"/>
          <p:cNvSpPr/>
          <p:nvPr/>
        </p:nvSpPr>
        <p:spPr>
          <a:xfrm>
            <a:off x="4713784" y="2383730"/>
            <a:ext cx="3069183"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41A1F"/>
                </a:solidFill>
                <a:latin typeface="IBM Plex Sans" pitchFamily="34" charset="0"/>
                <a:ea typeface="IBM Plex Sans" pitchFamily="34" charset="-122"/>
                <a:cs typeface="IBM Plex Sans" pitchFamily="34" charset="-120"/>
              </a:rPr>
              <a:t>Inflammatory or suppressive</a:t>
            </a:r>
            <a:endParaRPr lang="en-US" sz="1600" dirty="0"/>
          </a:p>
        </p:txBody>
      </p:sp>
      <p:sp>
        <p:nvSpPr>
          <p:cNvPr id="9" name="Text 7"/>
          <p:cNvSpPr/>
          <p:nvPr/>
        </p:nvSpPr>
        <p:spPr>
          <a:xfrm>
            <a:off x="4713784" y="2729161"/>
            <a:ext cx="284731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2703D"/>
                </a:solidFill>
                <a:latin typeface="IBM Plex Sans" pitchFamily="34" charset="0"/>
                <a:ea typeface="IBM Plex Sans" pitchFamily="34" charset="-122"/>
                <a:cs typeface="IBM Plex Sans" pitchFamily="34" charset="-120"/>
              </a:rPr>
              <a:t>Risk-associated</a:t>
            </a:r>
            <a:endParaRPr lang="en-US" sz="1400" dirty="0"/>
          </a:p>
        </p:txBody>
      </p:sp>
      <p:sp>
        <p:nvSpPr>
          <p:cNvPr id="10" name="Text 8"/>
          <p:cNvSpPr/>
          <p:nvPr/>
        </p:nvSpPr>
        <p:spPr>
          <a:xfrm>
            <a:off x="4713784" y="3079651"/>
            <a:ext cx="2847315" cy="113020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0"/>
                </a:solidFill>
                <a:latin typeface="IBM Plex Sans" pitchFamily="34" charset="0"/>
                <a:ea typeface="IBM Plex Sans" pitchFamily="34" charset="-122"/>
                <a:cs typeface="IBM Plex Sans" pitchFamily="34" charset="-120"/>
              </a:rPr>
              <a:t>Glioma, clear-cell renal, prostate. The same genes mark the mesenchymal, macrophage-rich state; in renal cancer dense but exhausted CD8 infiltrate predicts worse outcome.</a:t>
            </a:r>
            <a:endParaRPr lang="en-US" sz="1200" dirty="0"/>
          </a:p>
        </p:txBody>
      </p:sp>
      <p:sp>
        <p:nvSpPr>
          <p:cNvPr id="11" name="Shape 9"/>
          <p:cNvSpPr/>
          <p:nvPr/>
        </p:nvSpPr>
        <p:spPr>
          <a:xfrm>
            <a:off x="7995692" y="2075755"/>
            <a:ext cx="3380333" cy="2416671"/>
          </a:xfrm>
          <a:prstGeom prst="roundRect">
            <a:avLst>
              <a:gd name="adj" fmla="val 4073"/>
            </a:avLst>
          </a:prstGeom>
          <a:solidFill>
            <a:srgbClr val="FDFDFB"/>
          </a:solidFill>
          <a:ln w="6350">
            <a:solidFill>
              <a:srgbClr val="DDE0DC"/>
            </a:solidFill>
            <a:prstDash val="solid"/>
          </a:ln>
        </p:spPr>
      </p:sp>
      <p:sp>
        <p:nvSpPr>
          <p:cNvPr id="12" name="Text 10"/>
          <p:cNvSpPr/>
          <p:nvPr/>
        </p:nvSpPr>
        <p:spPr>
          <a:xfrm>
            <a:off x="8303667" y="2383730"/>
            <a:ext cx="2847315"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41A1F"/>
                </a:solidFill>
                <a:latin typeface="IBM Plex Sans" pitchFamily="34" charset="0"/>
                <a:ea typeface="IBM Plex Sans" pitchFamily="34" charset="-122"/>
                <a:cs typeface="IBM Plex Sans" pitchFamily="34" charset="-120"/>
              </a:rPr>
              <a:t>Hypoxia, reversed</a:t>
            </a:r>
            <a:endParaRPr lang="en-US" sz="1600" dirty="0"/>
          </a:p>
        </p:txBody>
      </p:sp>
      <p:sp>
        <p:nvSpPr>
          <p:cNvPr id="13" name="Text 11"/>
          <p:cNvSpPr/>
          <p:nvPr/>
        </p:nvSpPr>
        <p:spPr>
          <a:xfrm>
            <a:off x="8303667" y="2729161"/>
            <a:ext cx="284731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0"/>
                </a:solidFill>
                <a:latin typeface="IBM Plex Sans" pitchFamily="34" charset="0"/>
                <a:ea typeface="IBM Plex Sans" pitchFamily="34" charset="-122"/>
                <a:cs typeface="IBM Plex Sans" pitchFamily="34" charset="-120"/>
              </a:rPr>
              <a:t>Cancer-specific</a:t>
            </a:r>
            <a:endParaRPr lang="en-US" sz="1400" dirty="0"/>
          </a:p>
        </p:txBody>
      </p:sp>
      <p:sp>
        <p:nvSpPr>
          <p:cNvPr id="14" name="Text 12"/>
          <p:cNvSpPr/>
          <p:nvPr/>
        </p:nvSpPr>
        <p:spPr>
          <a:xfrm>
            <a:off x="8303667" y="3079651"/>
            <a:ext cx="2847315" cy="90924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0"/>
                </a:solidFill>
                <a:latin typeface="IBM Plex Sans" pitchFamily="34" charset="0"/>
                <a:ea typeface="IBM Plex Sans" pitchFamily="34" charset="-122"/>
                <a:cs typeface="IBM Plex Sans" pitchFamily="34" charset="-120"/>
              </a:rPr>
              <a:t>In clear-cell renal cancer, VHL loss makes HIF activity constitutive, so high HIF-target expression marks the better-prognosis well-differentiated subtype.</a:t>
            </a:r>
            <a:endParaRPr lang="en-US" sz="1200" dirty="0"/>
          </a:p>
        </p:txBody>
      </p:sp>
      <p:sp>
        <p:nvSpPr>
          <p:cNvPr id="15" name="Text 13"/>
          <p:cNvSpPr/>
          <p:nvPr/>
        </p:nvSpPr>
        <p:spPr>
          <a:xfrm>
            <a:off x="812800" y="4749602"/>
            <a:ext cx="9810750" cy="61466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0"/>
                </a:solidFill>
                <a:latin typeface="IBM Plex Sans" pitchFamily="34" charset="0"/>
                <a:ea typeface="IBM Plex Sans" pitchFamily="34" charset="-122"/>
                <a:cs typeface="IBM Plex Sans" pitchFamily="34" charset="-120"/>
              </a:rPr>
              <a:t>Stroma, by contrast, does not reverse: extracellular matrix and EMT genes are risk-associated in 66 of 68 hits. The atlas separates what transfers from what must be set per indication.</a:t>
            </a:r>
            <a:endParaRPr lang="en-US" sz="1600" dirty="0"/>
          </a:p>
        </p:txBody>
      </p:sp>
      <p:sp>
        <p:nvSpPr>
          <p:cNvPr id="16" name="Text 14"/>
          <p:cNvSpPr/>
          <p:nvPr/>
        </p:nvSpPr>
        <p:spPr>
          <a:xfrm>
            <a:off x="812800" y="6238280"/>
            <a:ext cx="779365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38B"/>
                </a:solidFill>
                <a:latin typeface="IBM Plex Sans" pitchFamily="34" charset="0"/>
                <a:ea typeface="IBM Plex Sans" pitchFamily="34" charset="-122"/>
                <a:cs typeface="IBM Plex Sans" pitchFamily="34" charset="-120"/>
              </a:rPr>
              <a:t>Each reading is established tumour immunology; the atlas supplies the direction and the cohort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A1F"/>
        </a:solidFill>
      </p:bgPr>
    </p:bg>
    <p:spTree>
      <p:nvGrpSpPr>
        <p:cNvPr id="1" name=""/>
        <p:cNvGrpSpPr/>
        <p:nvPr/>
      </p:nvGrpSpPr>
      <p:grpSpPr>
        <a:xfrm>
          <a:off x="0" y="0"/>
          <a:ext cx="0" cy="0"/>
          <a:chOff x="0" y="0"/>
          <a:chExt cx="0" cy="0"/>
        </a:xfrm>
      </p:grpSpPr>
      <p:sp>
        <p:nvSpPr>
          <p:cNvPr id="2" name="Text 0"/>
          <p:cNvSpPr/>
          <p:nvPr/>
        </p:nvSpPr>
        <p:spPr>
          <a:xfrm>
            <a:off x="812800" y="6238280"/>
            <a:ext cx="107789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59B"/>
                </a:solidFill>
                <a:latin typeface="IBM Plex Sans" pitchFamily="34" charset="0"/>
                <a:ea typeface="IBM Plex Sans" pitchFamily="34" charset="-122"/>
                <a:cs typeface="IBM Plex Sans" pitchFamily="34" charset="-120"/>
              </a:rPr>
              <a:t>Held-out concordance index · replicated cohorts with at least ten test events · clinical covariates are stage, grade and demographics</a:t>
            </a:r>
            <a:endParaRPr lang="en-US" sz="1200" dirty="0"/>
          </a:p>
        </p:txBody>
      </p:sp>
      <p:sp>
        <p:nvSpPr>
          <p:cNvPr id="3" name="Text 1"/>
          <p:cNvSpPr/>
          <p:nvPr>
            <p:ph type="title"/>
          </p:nvPr>
        </p:nvSpPr>
        <p:spPr>
          <a:xfrm>
            <a:off x="812800" y="706934"/>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F7F7F4"/>
                </a:solidFill>
                <a:latin typeface="Source Serif 4" pitchFamily="18" charset="0"/>
                <a:ea typeface="Source Serif 4" pitchFamily="18" charset="-122"/>
                <a:cs typeface="Source Serif 4" pitchFamily="18" charset="-120"/>
              </a:rPr>
              <a:t>Gene expression improves prediction in 12 of 17 cohorts</a:t>
            </a:r>
            <a:endParaRPr lang="en-US" sz="3600" dirty="0"/>
          </a:p>
        </p:txBody>
      </p:sp>
      <p:sp>
        <p:nvSpPr>
          <p:cNvPr id="4" name="Text 2"/>
          <p:cNvSpPr/>
          <p:nvPr/>
        </p:nvSpPr>
        <p:spPr>
          <a:xfrm>
            <a:off x="812800" y="2578100"/>
            <a:ext cx="5008132" cy="787400"/>
          </a:xfrm>
          <a:prstGeom prst="rect">
            <a:avLst/>
          </a:prstGeom>
          <a:noFill/>
          <a:ln/>
        </p:spPr>
        <p:txBody>
          <a:bodyPr wrap="square" lIns="0" tIns="0" rIns="0" bIns="0" rtlCol="0" anchor="t">
            <a:normAutofit/>
          </a:bodyPr>
          <a:lstStyle/>
          <a:p>
            <a:pPr algn="l" indent="0" marL="0">
              <a:lnSpc>
                <a:spcPts val="6000"/>
              </a:lnSpc>
              <a:buNone/>
            </a:pPr>
            <a:r>
              <a:rPr lang="en-US" sz="6000" dirty="0">
                <a:solidFill>
                  <a:srgbClr val="F7F7F4"/>
                </a:solidFill>
                <a:latin typeface="Source Serif 4" pitchFamily="18" charset="0"/>
                <a:ea typeface="Source Serif 4" pitchFamily="18" charset="-122"/>
                <a:cs typeface="Source Serif 4" pitchFamily="18" charset="-120"/>
              </a:rPr>
              <a:t>12 of 17</a:t>
            </a:r>
            <a:endParaRPr lang="en-US" sz="6000" dirty="0"/>
          </a:p>
        </p:txBody>
      </p:sp>
      <p:sp>
        <p:nvSpPr>
          <p:cNvPr id="5" name="Text 3"/>
          <p:cNvSpPr/>
          <p:nvPr/>
        </p:nvSpPr>
        <p:spPr>
          <a:xfrm>
            <a:off x="812800" y="3390900"/>
            <a:ext cx="500813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D0D4"/>
                </a:solidFill>
                <a:latin typeface="IBM Plex Sans" pitchFamily="34" charset="0"/>
                <a:ea typeface="IBM Plex Sans" pitchFamily="34" charset="-122"/>
                <a:cs typeface="IBM Plex Sans" pitchFamily="34" charset="-120"/>
              </a:rPr>
              <a:t>Replicated cohorts where the gene model beats clinical covariates alone</a:t>
            </a:r>
            <a:endParaRPr lang="en-US" sz="1400" dirty="0"/>
          </a:p>
        </p:txBody>
      </p:sp>
      <p:sp>
        <p:nvSpPr>
          <p:cNvPr id="6" name="Text 4"/>
          <p:cNvSpPr/>
          <p:nvPr/>
        </p:nvSpPr>
        <p:spPr>
          <a:xfrm>
            <a:off x="812800" y="4091880"/>
            <a:ext cx="1619607"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C2703D"/>
                </a:solidFill>
                <a:latin typeface="Source Serif 4" pitchFamily="18" charset="0"/>
                <a:ea typeface="Source Serif 4" pitchFamily="18" charset="-122"/>
                <a:cs typeface="Source Serif 4" pitchFamily="18" charset="-120"/>
              </a:rPr>
              <a:t>+0.076</a:t>
            </a:r>
            <a:endParaRPr lang="en-US" sz="3600" dirty="0"/>
          </a:p>
        </p:txBody>
      </p:sp>
      <p:sp>
        <p:nvSpPr>
          <p:cNvPr id="7" name="Text 5"/>
          <p:cNvSpPr/>
          <p:nvPr/>
        </p:nvSpPr>
        <p:spPr>
          <a:xfrm>
            <a:off x="812800" y="4599880"/>
            <a:ext cx="14004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D0D4"/>
                </a:solidFill>
                <a:latin typeface="IBM Plex Sans" pitchFamily="34" charset="0"/>
                <a:ea typeface="IBM Plex Sans" pitchFamily="34" charset="-122"/>
                <a:cs typeface="IBM Plex Sans" pitchFamily="34" charset="-120"/>
              </a:rPr>
              <a:t>Mean C-index gain</a:t>
            </a:r>
            <a:endParaRPr lang="en-US" sz="1200" dirty="0"/>
          </a:p>
        </p:txBody>
      </p:sp>
      <p:sp>
        <p:nvSpPr>
          <p:cNvPr id="8" name="Text 6"/>
          <p:cNvSpPr/>
          <p:nvPr/>
        </p:nvSpPr>
        <p:spPr>
          <a:xfrm>
            <a:off x="2467273" y="4091880"/>
            <a:ext cx="1470124"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C2703D"/>
                </a:solidFill>
                <a:latin typeface="Source Serif 4" pitchFamily="18" charset="0"/>
                <a:ea typeface="Source Serif 4" pitchFamily="18" charset="-122"/>
                <a:cs typeface="Source Serif 4" pitchFamily="18" charset="-120"/>
              </a:rPr>
              <a:t>+0.33</a:t>
            </a:r>
            <a:endParaRPr lang="en-US" sz="3600" dirty="0"/>
          </a:p>
        </p:txBody>
      </p:sp>
      <p:sp>
        <p:nvSpPr>
          <p:cNvPr id="9" name="Text 7"/>
          <p:cNvSpPr/>
          <p:nvPr/>
        </p:nvSpPr>
        <p:spPr>
          <a:xfrm>
            <a:off x="2467273" y="4599880"/>
            <a:ext cx="17031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D0D4"/>
                </a:solidFill>
                <a:latin typeface="IBM Plex Sans" pitchFamily="34" charset="0"/>
                <a:ea typeface="IBM Plex Sans" pitchFamily="34" charset="-122"/>
                <a:cs typeface="IBM Plex Sans" pitchFamily="34" charset="-120"/>
              </a:rPr>
              <a:t>Largest single cohort</a:t>
            </a:r>
            <a:endParaRPr lang="en-US" sz="1200" dirty="0"/>
          </a:p>
        </p:txBody>
      </p:sp>
      <p:sp>
        <p:nvSpPr>
          <p:cNvPr id="10" name="Text 8"/>
          <p:cNvSpPr/>
          <p:nvPr/>
        </p:nvSpPr>
        <p:spPr>
          <a:xfrm>
            <a:off x="812800" y="5016401"/>
            <a:ext cx="5008132"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8A959B"/>
                </a:solidFill>
                <a:latin typeface="IBM Plex Sans" pitchFamily="34" charset="0"/>
                <a:ea typeface="IBM Plex Sans" pitchFamily="34" charset="-122"/>
                <a:cs typeface="IBM Plex Sans" pitchFamily="34" charset="-120"/>
              </a:rPr>
              <a:t>Across all tiers with sufficient test events the mean gain falls to about +0.02. The atlas earns its value by identifying which indications are tractable, not by claiming uniform lift.</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094164" y="2590800"/>
          <a:ext cx="5285036" cy="3088084"/>
        </p:xfrm>
        <a:graphic>
          <a:graphicData uri="http://schemas.openxmlformats.org/drawingml/2006/table">
            <a:tbl>
              <a:tblPr/>
              <a:tblGrid>
                <a:gridCol w="1479810"/>
                <a:gridCol w="1268409"/>
                <a:gridCol w="1268409"/>
                <a:gridCol w="1268409"/>
              </a:tblGrid>
              <a:tr h="386011">
                <a:tc>
                  <a:txBody>
                    <a:bodyPr/>
                    <a:lstStyle/>
                    <a:p>
                      <a:pPr indent="0" marL="0">
                        <a:lnSpc>
                          <a:spcPts val="1960"/>
                        </a:lnSpc>
                        <a:buNone/>
                      </a:pPr>
                      <a:r>
                        <a:rPr lang="en-US" sz="1400" b="1" dirty="0">
                          <a:solidFill>
                            <a:srgbClr val="F7F7F4"/>
                          </a:solidFill>
                          <a:latin typeface="IBM Plex Sans" pitchFamily="34" charset="0"/>
                          <a:ea typeface="IBM Plex Sans" pitchFamily="34" charset="-122"/>
                          <a:cs typeface="IBM Plex Sans" pitchFamily="34" charset="-120"/>
                        </a:rPr>
                        <a:t>Cohort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B4E"/>
                      </a:solidFill>
                      <a:prstDash val="solid"/>
                      <a:round/>
                      <a:headEnd type="none" w="med" len="med"/>
                      <a:tailEnd type="none" w="med" len="med"/>
                    </a:lnL>
                    <a:lnR w="12700" cap="flat" cmpd="sng" algn="ctr">
                      <a:solidFill>
                        <a:srgbClr val="55595B"/>
                      </a:solidFill>
                      <a:prstDash val="solid"/>
                      <a:round/>
                      <a:headEnd type="none" w="med" len="med"/>
                      <a:tailEnd type="none" w="med" len="med"/>
                    </a:lnR>
                    <a:lnT w="12700" cap="flat" cmpd="sng" algn="ctr">
                      <a:solidFill>
                        <a:srgbClr val="474B4E"/>
                      </a:solidFill>
                      <a:prstDash val="solid"/>
                      <a:round/>
                      <a:headEnd type="none" w="med" len="med"/>
                      <a:tailEnd type="none" w="med" len="med"/>
                    </a:lnT>
                    <a:lnB w="12700" cap="flat" cmpd="sng" algn="ctr">
                      <a:solidFill>
                        <a:srgbClr val="55595B"/>
                      </a:solidFill>
                      <a:prstDash val="solid"/>
                      <a:round/>
                      <a:headEnd type="none" w="med" len="med"/>
                      <a:tailEnd type="none" w="med" len="med"/>
                    </a:lnB>
                    <a:solidFill>
                      <a:srgbClr val="262C30"/>
                    </a:solidFill>
                  </a:tcPr>
                </a:tc>
                <a:tc>
                  <a:txBody>
                    <a:bodyPr/>
                    <a:lstStyle/>
                    <a:p>
                      <a:pPr algn="r" indent="0" marL="0">
                        <a:lnSpc>
                          <a:spcPts val="1960"/>
                        </a:lnSpc>
                        <a:buNone/>
                      </a:pPr>
                      <a:r>
                        <a:rPr lang="en-US" sz="1400" b="1" dirty="0">
                          <a:solidFill>
                            <a:srgbClr val="F7F7F4"/>
                          </a:solidFill>
                          <a:latin typeface="IBM Plex Sans" pitchFamily="34" charset="0"/>
                          <a:ea typeface="IBM Plex Sans" pitchFamily="34" charset="-122"/>
                          <a:cs typeface="IBM Plex Sans" pitchFamily="34" charset="-120"/>
                        </a:rPr>
                        <a:t>Clinical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55595B"/>
                      </a:solidFill>
                      <a:prstDash val="solid"/>
                      <a:round/>
                      <a:headEnd type="none" w="med" len="med"/>
                      <a:tailEnd type="none" w="med" len="med"/>
                    </a:lnL>
                    <a:lnR w="12700" cap="flat" cmpd="sng" algn="ctr">
                      <a:solidFill>
                        <a:srgbClr val="55595B"/>
                      </a:solidFill>
                      <a:prstDash val="solid"/>
                      <a:round/>
                      <a:headEnd type="none" w="med" len="med"/>
                      <a:tailEnd type="none" w="med" len="med"/>
                    </a:lnR>
                    <a:lnT w="12700" cap="flat" cmpd="sng" algn="ctr">
                      <a:solidFill>
                        <a:srgbClr val="474B4E"/>
                      </a:solidFill>
                      <a:prstDash val="solid"/>
                      <a:round/>
                      <a:headEnd type="none" w="med" len="med"/>
                      <a:tailEnd type="none" w="med" len="med"/>
                    </a:lnT>
                    <a:lnB w="12700" cap="flat" cmpd="sng" algn="ctr">
                      <a:solidFill>
                        <a:srgbClr val="55595B"/>
                      </a:solidFill>
                      <a:prstDash val="solid"/>
                      <a:round/>
                      <a:headEnd type="none" w="med" len="med"/>
                      <a:tailEnd type="none" w="med" len="med"/>
                    </a:lnB>
                    <a:solidFill>
                      <a:srgbClr val="262C30"/>
                    </a:solidFill>
                  </a:tcPr>
                </a:tc>
                <a:tc>
                  <a:txBody>
                    <a:bodyPr/>
                    <a:lstStyle/>
                    <a:p>
                      <a:pPr algn="r" indent="0" marL="0">
                        <a:lnSpc>
                          <a:spcPts val="1960"/>
                        </a:lnSpc>
                        <a:buNone/>
                      </a:pPr>
                      <a:r>
                        <a:rPr lang="en-US" sz="1400" b="1" dirty="0">
                          <a:solidFill>
                            <a:srgbClr val="F7F7F4"/>
                          </a:solidFill>
                          <a:latin typeface="IBM Plex Sans" pitchFamily="34" charset="0"/>
                          <a:ea typeface="IBM Plex Sans" pitchFamily="34" charset="-122"/>
                          <a:cs typeface="IBM Plex Sans" pitchFamily="34" charset="-120"/>
                        </a:rPr>
                        <a:t>Gene model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55595B"/>
                      </a:solidFill>
                      <a:prstDash val="solid"/>
                      <a:round/>
                      <a:headEnd type="none" w="med" len="med"/>
                      <a:tailEnd type="none" w="med" len="med"/>
                    </a:lnL>
                    <a:lnR w="12700" cap="flat" cmpd="sng" algn="ctr">
                      <a:solidFill>
                        <a:srgbClr val="55595B"/>
                      </a:solidFill>
                      <a:prstDash val="solid"/>
                      <a:round/>
                      <a:headEnd type="none" w="med" len="med"/>
                      <a:tailEnd type="none" w="med" len="med"/>
                    </a:lnR>
                    <a:lnT w="12700" cap="flat" cmpd="sng" algn="ctr">
                      <a:solidFill>
                        <a:srgbClr val="474B4E"/>
                      </a:solidFill>
                      <a:prstDash val="solid"/>
                      <a:round/>
                      <a:headEnd type="none" w="med" len="med"/>
                      <a:tailEnd type="none" w="med" len="med"/>
                    </a:lnT>
                    <a:lnB w="12700" cap="flat" cmpd="sng" algn="ctr">
                      <a:solidFill>
                        <a:srgbClr val="55595B"/>
                      </a:solidFill>
                      <a:prstDash val="solid"/>
                      <a:round/>
                      <a:headEnd type="none" w="med" len="med"/>
                      <a:tailEnd type="none" w="med" len="med"/>
                    </a:lnB>
                    <a:solidFill>
                      <a:srgbClr val="262C30"/>
                    </a:solidFill>
                  </a:tcPr>
                </a:tc>
                <a:tc>
                  <a:txBody>
                    <a:bodyPr/>
                    <a:lstStyle/>
                    <a:p>
                      <a:pPr algn="r" indent="0" marL="0">
                        <a:lnSpc>
                          <a:spcPts val="1960"/>
                        </a:lnSpc>
                        <a:buNone/>
                      </a:pPr>
                      <a:r>
                        <a:rPr lang="en-US" sz="1400" b="1" dirty="0">
                          <a:solidFill>
                            <a:srgbClr val="F7F7F4"/>
                          </a:solidFill>
                          <a:latin typeface="IBM Plex Sans" pitchFamily="34" charset="0"/>
                          <a:ea typeface="IBM Plex Sans" pitchFamily="34" charset="-122"/>
                          <a:cs typeface="IBM Plex Sans" pitchFamily="34" charset="-120"/>
                        </a:rPr>
                        <a:t>Gain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55595B"/>
                      </a:solidFill>
                      <a:prstDash val="solid"/>
                      <a:round/>
                      <a:headEnd type="none" w="med" len="med"/>
                      <a:tailEnd type="none" w="med" len="med"/>
                    </a:lnL>
                    <a:lnR w="12700" cap="flat" cmpd="sng" algn="ctr">
                      <a:solidFill>
                        <a:srgbClr val="55595B"/>
                      </a:solidFill>
                      <a:prstDash val="solid"/>
                      <a:round/>
                      <a:headEnd type="none" w="med" len="med"/>
                      <a:tailEnd type="none" w="med" len="med"/>
                    </a:lnR>
                    <a:lnT w="12700" cap="flat" cmpd="sng" algn="ctr">
                      <a:solidFill>
                        <a:srgbClr val="474B4E"/>
                      </a:solidFill>
                      <a:prstDash val="solid"/>
                      <a:round/>
                      <a:headEnd type="none" w="med" len="med"/>
                      <a:tailEnd type="none" w="med" len="med"/>
                    </a:lnT>
                    <a:lnB w="12700" cap="flat" cmpd="sng" algn="ctr">
                      <a:solidFill>
                        <a:srgbClr val="55595B"/>
                      </a:solidFill>
                      <a:prstDash val="solid"/>
                      <a:round/>
                      <a:headEnd type="none" w="med" len="med"/>
                      <a:tailEnd type="none" w="med" len="med"/>
                    </a:lnB>
                    <a:solidFill>
                      <a:srgbClr val="262C30"/>
                    </a:solidFill>
                  </a:tcPr>
                </a:tc>
              </a:tr>
              <a:tr h="386011">
                <a:tc>
                  <a:txBody>
                    <a:bodyPr/>
                    <a:lstStyle/>
                    <a:p>
                      <a:pPr indent="0" marL="0">
                        <a:lnSpc>
                          <a:spcPts val="1960"/>
                        </a:lnSpc>
                        <a:buNone/>
                      </a:pPr>
                      <a:r>
                        <a:rPr lang="en-US" sz="1400" dirty="0">
                          <a:solidFill>
                            <a:srgbClr val="F7F7F4"/>
                          </a:solidFill>
                          <a:latin typeface="IBM Plex Sans" pitchFamily="34" charset="0"/>
                          <a:ea typeface="IBM Plex Sans" pitchFamily="34" charset="-122"/>
                          <a:cs typeface="IBM Plex Sans" pitchFamily="34" charset="-120"/>
                        </a:rPr>
                        <a:t>MESO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B4E"/>
                      </a:solidFill>
                      <a:prstDash val="solid"/>
                      <a:round/>
                      <a:headEnd type="none" w="med" len="med"/>
                      <a:tailEnd type="none" w="med" len="med"/>
                    </a:lnL>
                    <a:lnR w="12700" cap="flat" cmpd="sng" algn="ctr">
                      <a:solidFill>
                        <a:srgbClr val="474B4E"/>
                      </a:solidFill>
                      <a:prstDash val="solid"/>
                      <a:round/>
                      <a:headEnd type="none" w="med" len="med"/>
                      <a:tailEnd type="none" w="med" len="med"/>
                    </a:lnR>
                    <a:lnT w="12700" cap="flat" cmpd="sng" algn="ctr">
                      <a:solidFill>
                        <a:srgbClr val="55595B"/>
                      </a:solidFill>
                      <a:prstDash val="solid"/>
                      <a:round/>
                      <a:headEnd type="none" w="med" len="med"/>
                      <a:tailEnd type="none" w="med" len="med"/>
                    </a:lnT>
                    <a:lnB w="12700" cap="flat" cmpd="sng" algn="ctr">
                      <a:solidFill>
                        <a:srgbClr val="474B4E"/>
                      </a:solidFill>
                      <a:prstDash val="solid"/>
                      <a:round/>
                      <a:headEnd type="none" w="med" len="med"/>
                      <a:tailEnd type="none" w="med" len="med"/>
                    </a:lnB>
                  </a:tcPr>
                </a:tc>
                <a:tc>
                  <a:txBody>
                    <a:bodyPr/>
                    <a:lstStyle/>
                    <a:p>
                      <a:pPr algn="r" indent="0" marL="0">
                        <a:lnSpc>
                          <a:spcPts val="1960"/>
                        </a:lnSpc>
                        <a:buNone/>
                      </a:pPr>
                      <a:r>
                        <a:rPr lang="en-US" sz="1400" dirty="0">
                          <a:solidFill>
                            <a:srgbClr val="F7F7F4"/>
                          </a:solidFill>
                          <a:latin typeface="IBM Plex Sans" pitchFamily="34" charset="0"/>
                          <a:ea typeface="IBM Plex Sans" pitchFamily="34" charset="-122"/>
                          <a:cs typeface="IBM Plex Sans" pitchFamily="34" charset="-120"/>
                        </a:rPr>
                        <a:t>0.53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B4E"/>
                      </a:solidFill>
                      <a:prstDash val="solid"/>
                      <a:round/>
                      <a:headEnd type="none" w="med" len="med"/>
                      <a:tailEnd type="none" w="med" len="med"/>
                    </a:lnL>
                    <a:lnR w="12700" cap="flat" cmpd="sng" algn="ctr">
                      <a:solidFill>
                        <a:srgbClr val="474B4E"/>
                      </a:solidFill>
                      <a:prstDash val="solid"/>
                      <a:round/>
                      <a:headEnd type="none" w="med" len="med"/>
                      <a:tailEnd type="none" w="med" len="med"/>
                    </a:lnR>
                    <a:lnT w="12700" cap="flat" cmpd="sng" algn="ctr">
                      <a:solidFill>
                        <a:srgbClr val="55595B"/>
                      </a:solidFill>
                      <a:prstDash val="solid"/>
                      <a:round/>
                      <a:headEnd type="none" w="med" len="med"/>
                      <a:tailEnd type="none" w="med" len="med"/>
                    </a:lnT>
                    <a:lnB w="12700" cap="flat" cmpd="sng" algn="ctr">
                      <a:solidFill>
                        <a:srgbClr val="474B4E"/>
                      </a:solidFill>
                      <a:prstDash val="solid"/>
                      <a:round/>
                      <a:headEnd type="none" w="med" len="med"/>
                      <a:tailEnd type="none" w="med" len="med"/>
                    </a:lnB>
                  </a:tcPr>
                </a:tc>
                <a:tc>
                  <a:txBody>
                    <a:bodyPr/>
                    <a:lstStyle/>
                    <a:p>
                      <a:pPr algn="r" indent="0" marL="0">
                        <a:lnSpc>
                          <a:spcPts val="1960"/>
                        </a:lnSpc>
                        <a:buNone/>
                      </a:pPr>
                      <a:r>
                        <a:rPr lang="en-US" sz="1400" dirty="0">
                          <a:solidFill>
                            <a:srgbClr val="F7F7F4"/>
                          </a:solidFill>
                          <a:latin typeface="IBM Plex Sans" pitchFamily="34" charset="0"/>
                          <a:ea typeface="IBM Plex Sans" pitchFamily="34" charset="-122"/>
                          <a:cs typeface="IBM Plex Sans" pitchFamily="34" charset="-120"/>
                        </a:rPr>
                        <a:t>0.86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B4E"/>
                      </a:solidFill>
                      <a:prstDash val="solid"/>
                      <a:round/>
                      <a:headEnd type="none" w="med" len="med"/>
                      <a:tailEnd type="none" w="med" len="med"/>
                    </a:lnL>
                    <a:lnR w="12700" cap="flat" cmpd="sng" algn="ctr">
                      <a:solidFill>
                        <a:srgbClr val="474B4E"/>
                      </a:solidFill>
                      <a:prstDash val="solid"/>
                      <a:round/>
                      <a:headEnd type="none" w="med" len="med"/>
                      <a:tailEnd type="none" w="med" len="med"/>
                    </a:lnR>
                    <a:lnT w="12700" cap="flat" cmpd="sng" algn="ctr">
                      <a:solidFill>
                        <a:srgbClr val="55595B"/>
                      </a:solidFill>
                      <a:prstDash val="solid"/>
                      <a:round/>
                      <a:headEnd type="none" w="med" len="med"/>
                      <a:tailEnd type="none" w="med" len="med"/>
                    </a:lnT>
                    <a:lnB w="12700" cap="flat" cmpd="sng" algn="ctr">
                      <a:solidFill>
                        <a:srgbClr val="474B4E"/>
                      </a:solidFill>
                      <a:prstDash val="solid"/>
                      <a:round/>
                      <a:headEnd type="none" w="med" len="med"/>
                      <a:tailEnd type="none" w="med" len="med"/>
                    </a:lnB>
                  </a:tcPr>
                </a:tc>
                <a:tc>
                  <a:txBody>
                    <a:bodyPr/>
                    <a:lstStyle/>
                    <a:p>
                      <a:pPr algn="r" indent="0" marL="0">
                        <a:lnSpc>
                          <a:spcPts val="1960"/>
                        </a:lnSpc>
                        <a:buNone/>
                      </a:pPr>
                      <a:r>
                        <a:rPr lang="en-US" sz="1400" dirty="0">
                          <a:solidFill>
                            <a:srgbClr val="E09A6A"/>
                          </a:solidFill>
                          <a:latin typeface="IBM Plex Sans" pitchFamily="34" charset="0"/>
                          <a:ea typeface="IBM Plex Sans" pitchFamily="34" charset="-122"/>
                          <a:cs typeface="IBM Plex Sans" pitchFamily="34" charset="-120"/>
                        </a:rPr>
                        <a:t>+0.33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B4E"/>
                      </a:solidFill>
                      <a:prstDash val="solid"/>
                      <a:round/>
                      <a:headEnd type="none" w="med" len="med"/>
                      <a:tailEnd type="none" w="med" len="med"/>
                    </a:lnL>
                    <a:lnR w="12700" cap="flat" cmpd="sng" algn="ctr">
                      <a:solidFill>
                        <a:srgbClr val="474B4E"/>
                      </a:solidFill>
                      <a:prstDash val="solid"/>
                      <a:round/>
                      <a:headEnd type="none" w="med" len="med"/>
                      <a:tailEnd type="none" w="med" len="med"/>
                    </a:lnR>
                    <a:lnT w="12700" cap="flat" cmpd="sng" algn="ctr">
                      <a:solidFill>
                        <a:srgbClr val="55595B"/>
                      </a:solidFill>
                      <a:prstDash val="solid"/>
                      <a:round/>
                      <a:headEnd type="none" w="med" len="med"/>
                      <a:tailEnd type="none" w="med" len="med"/>
                    </a:lnT>
                    <a:lnB w="12700" cap="flat" cmpd="sng" algn="ctr">
                      <a:solidFill>
                        <a:srgbClr val="474B4E"/>
                      </a:solidFill>
                      <a:prstDash val="solid"/>
                      <a:round/>
                      <a:headEnd type="none" w="med" len="med"/>
                      <a:tailEnd type="none" w="med" len="med"/>
                    </a:lnB>
                  </a:tcPr>
                </a:tc>
              </a:tr>
              <a:tr h="386011">
                <a:tc>
                  <a:txBody>
                    <a:bodyPr/>
                    <a:lstStyle/>
                    <a:p>
                      <a:pPr indent="0" marL="0">
                        <a:lnSpc>
                          <a:spcPts val="1960"/>
                        </a:lnSpc>
                        <a:buNone/>
                      </a:pPr>
                      <a:r>
                        <a:rPr lang="en-US" sz="1400" dirty="0">
                          <a:solidFill>
                            <a:srgbClr val="F7F7F4"/>
                          </a:solidFill>
                          <a:latin typeface="IBM Plex Sans" pitchFamily="34" charset="0"/>
                          <a:ea typeface="IBM Plex Sans" pitchFamily="34" charset="-122"/>
                          <a:cs typeface="IBM Plex Sans" pitchFamily="34" charset="-120"/>
                        </a:rPr>
                        <a:t>SARC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B4E"/>
                      </a:solidFill>
                      <a:prstDash val="solid"/>
                      <a:round/>
                      <a:headEnd type="none" w="med" len="med"/>
                      <a:tailEnd type="none" w="med" len="med"/>
                    </a:lnL>
                    <a:lnR w="12700" cap="flat" cmpd="sng" algn="ctr">
                      <a:solidFill>
                        <a:srgbClr val="474B4E"/>
                      </a:solidFill>
                      <a:prstDash val="solid"/>
                      <a:round/>
                      <a:headEnd type="none" w="med" len="med"/>
                      <a:tailEnd type="none" w="med" len="med"/>
                    </a:lnR>
                    <a:lnT w="12700" cap="flat" cmpd="sng" algn="ctr">
                      <a:solidFill>
                        <a:srgbClr val="474B4E"/>
                      </a:solidFill>
                      <a:prstDash val="solid"/>
                      <a:round/>
                      <a:headEnd type="none" w="med" len="med"/>
                      <a:tailEnd type="none" w="med" len="med"/>
                    </a:lnT>
                    <a:lnB w="12700" cap="flat" cmpd="sng" algn="ctr">
                      <a:solidFill>
                        <a:srgbClr val="474B4E"/>
                      </a:solidFill>
                      <a:prstDash val="solid"/>
                      <a:round/>
                      <a:headEnd type="none" w="med" len="med"/>
                      <a:tailEnd type="none" w="med" len="med"/>
                    </a:lnB>
                  </a:tcPr>
                </a:tc>
                <a:tc>
                  <a:txBody>
                    <a:bodyPr/>
                    <a:lstStyle/>
                    <a:p>
                      <a:pPr algn="r" indent="0" marL="0">
                        <a:lnSpc>
                          <a:spcPts val="1960"/>
                        </a:lnSpc>
                        <a:buNone/>
                      </a:pPr>
                      <a:r>
                        <a:rPr lang="en-US" sz="1400" dirty="0">
                          <a:solidFill>
                            <a:srgbClr val="F7F7F4"/>
                          </a:solidFill>
                          <a:latin typeface="IBM Plex Sans" pitchFamily="34" charset="0"/>
                          <a:ea typeface="IBM Plex Sans" pitchFamily="34" charset="-122"/>
                          <a:cs typeface="IBM Plex Sans" pitchFamily="34" charset="-120"/>
                        </a:rPr>
                        <a:t>0.55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B4E"/>
                      </a:solidFill>
                      <a:prstDash val="solid"/>
                      <a:round/>
                      <a:headEnd type="none" w="med" len="med"/>
                      <a:tailEnd type="none" w="med" len="med"/>
                    </a:lnL>
                    <a:lnR w="12700" cap="flat" cmpd="sng" algn="ctr">
                      <a:solidFill>
                        <a:srgbClr val="474B4E"/>
                      </a:solidFill>
                      <a:prstDash val="solid"/>
                      <a:round/>
                      <a:headEnd type="none" w="med" len="med"/>
                      <a:tailEnd type="none" w="med" len="med"/>
                    </a:lnR>
                    <a:lnT w="12700" cap="flat" cmpd="sng" algn="ctr">
                      <a:solidFill>
                        <a:srgbClr val="474B4E"/>
                      </a:solidFill>
                      <a:prstDash val="solid"/>
                      <a:round/>
                      <a:headEnd type="none" w="med" len="med"/>
                      <a:tailEnd type="none" w="med" len="med"/>
                    </a:lnT>
                    <a:lnB w="12700" cap="flat" cmpd="sng" algn="ctr">
                      <a:solidFill>
                        <a:srgbClr val="474B4E"/>
                      </a:solidFill>
                      <a:prstDash val="solid"/>
                      <a:round/>
                      <a:headEnd type="none" w="med" len="med"/>
                      <a:tailEnd type="none" w="med" len="med"/>
                    </a:lnB>
                  </a:tcPr>
                </a:tc>
                <a:tc>
                  <a:txBody>
                    <a:bodyPr/>
                    <a:lstStyle/>
                    <a:p>
                      <a:pPr algn="r" indent="0" marL="0">
                        <a:lnSpc>
                          <a:spcPts val="1960"/>
                        </a:lnSpc>
                        <a:buNone/>
                      </a:pPr>
                      <a:r>
                        <a:rPr lang="en-US" sz="1400" dirty="0">
                          <a:solidFill>
                            <a:srgbClr val="F7F7F4"/>
                          </a:solidFill>
                          <a:latin typeface="IBM Plex Sans" pitchFamily="34" charset="0"/>
                          <a:ea typeface="IBM Plex Sans" pitchFamily="34" charset="-122"/>
                          <a:cs typeface="IBM Plex Sans" pitchFamily="34" charset="-120"/>
                        </a:rPr>
                        <a:t>0.79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B4E"/>
                      </a:solidFill>
                      <a:prstDash val="solid"/>
                      <a:round/>
                      <a:headEnd type="none" w="med" len="med"/>
                      <a:tailEnd type="none" w="med" len="med"/>
                    </a:lnL>
                    <a:lnR w="12700" cap="flat" cmpd="sng" algn="ctr">
                      <a:solidFill>
                        <a:srgbClr val="474B4E"/>
                      </a:solidFill>
                      <a:prstDash val="solid"/>
                      <a:round/>
                      <a:headEnd type="none" w="med" len="med"/>
                      <a:tailEnd type="none" w="med" len="med"/>
                    </a:lnR>
                    <a:lnT w="12700" cap="flat" cmpd="sng" algn="ctr">
                      <a:solidFill>
                        <a:srgbClr val="474B4E"/>
                      </a:solidFill>
                      <a:prstDash val="solid"/>
                      <a:round/>
                      <a:headEnd type="none" w="med" len="med"/>
                      <a:tailEnd type="none" w="med" len="med"/>
                    </a:lnT>
                    <a:lnB w="12700" cap="flat" cmpd="sng" algn="ctr">
                      <a:solidFill>
                        <a:srgbClr val="474B4E"/>
                      </a:solidFill>
                      <a:prstDash val="solid"/>
                      <a:round/>
                      <a:headEnd type="none" w="med" len="med"/>
                      <a:tailEnd type="none" w="med" len="med"/>
                    </a:lnB>
                  </a:tcPr>
                </a:tc>
                <a:tc>
                  <a:txBody>
                    <a:bodyPr/>
                    <a:lstStyle/>
                    <a:p>
                      <a:pPr algn="r" indent="0" marL="0">
                        <a:lnSpc>
                          <a:spcPts val="1960"/>
                        </a:lnSpc>
                        <a:buNone/>
                      </a:pPr>
                      <a:r>
                        <a:rPr lang="en-US" sz="1400" dirty="0">
                          <a:solidFill>
                            <a:srgbClr val="E09A6A"/>
                          </a:solidFill>
                          <a:latin typeface="IBM Plex Sans" pitchFamily="34" charset="0"/>
                          <a:ea typeface="IBM Plex Sans" pitchFamily="34" charset="-122"/>
                          <a:cs typeface="IBM Plex Sans" pitchFamily="34" charset="-120"/>
                        </a:rPr>
                        <a:t>+0.24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B4E"/>
                      </a:solidFill>
                      <a:prstDash val="solid"/>
                      <a:round/>
                      <a:headEnd type="none" w="med" len="med"/>
                      <a:tailEnd type="none" w="med" len="med"/>
                    </a:lnL>
                    <a:lnR w="12700" cap="flat" cmpd="sng" algn="ctr">
                      <a:solidFill>
                        <a:srgbClr val="474B4E"/>
                      </a:solidFill>
                      <a:prstDash val="solid"/>
                      <a:round/>
                      <a:headEnd type="none" w="med" len="med"/>
                      <a:tailEnd type="none" w="med" len="med"/>
                    </a:lnR>
                    <a:lnT w="12700" cap="flat" cmpd="sng" algn="ctr">
                      <a:solidFill>
                        <a:srgbClr val="474B4E"/>
                      </a:solidFill>
                      <a:prstDash val="solid"/>
                      <a:round/>
                      <a:headEnd type="none" w="med" len="med"/>
                      <a:tailEnd type="none" w="med" len="med"/>
                    </a:lnT>
                    <a:lnB w="12700" cap="flat" cmpd="sng" algn="ctr">
                      <a:solidFill>
                        <a:srgbClr val="474B4E"/>
                      </a:solidFill>
                      <a:prstDash val="solid"/>
                      <a:round/>
                      <a:headEnd type="none" w="med" len="med"/>
                      <a:tailEnd type="none" w="med" len="med"/>
                    </a:lnB>
                  </a:tcPr>
                </a:tc>
              </a:tr>
              <a:tr h="386011">
                <a:tc>
                  <a:txBody>
                    <a:bodyPr/>
                    <a:lstStyle/>
                    <a:p>
                      <a:pPr indent="0" marL="0">
                        <a:lnSpc>
                          <a:spcPts val="1960"/>
                        </a:lnSpc>
                        <a:buNone/>
                      </a:pPr>
                      <a:r>
                        <a:rPr lang="en-US" sz="1400" dirty="0">
                          <a:solidFill>
                            <a:srgbClr val="F7F7F4"/>
                          </a:solidFill>
                          <a:latin typeface="IBM Plex Sans" pitchFamily="34" charset="0"/>
                          <a:ea typeface="IBM Plex Sans" pitchFamily="34" charset="-122"/>
                          <a:cs typeface="IBM Plex Sans" pitchFamily="34" charset="-120"/>
                        </a:rPr>
                        <a:t>LAML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B4E"/>
                      </a:solidFill>
                      <a:prstDash val="solid"/>
                      <a:round/>
                      <a:headEnd type="none" w="med" len="med"/>
                      <a:tailEnd type="none" w="med" len="med"/>
                    </a:lnL>
                    <a:lnR w="12700" cap="flat" cmpd="sng" algn="ctr">
                      <a:solidFill>
                        <a:srgbClr val="474B4E"/>
                      </a:solidFill>
                      <a:prstDash val="solid"/>
                      <a:round/>
                      <a:headEnd type="none" w="med" len="med"/>
                      <a:tailEnd type="none" w="med" len="med"/>
                    </a:lnR>
                    <a:lnT w="12700" cap="flat" cmpd="sng" algn="ctr">
                      <a:solidFill>
                        <a:srgbClr val="474B4E"/>
                      </a:solidFill>
                      <a:prstDash val="solid"/>
                      <a:round/>
                      <a:headEnd type="none" w="med" len="med"/>
                      <a:tailEnd type="none" w="med" len="med"/>
                    </a:lnT>
                    <a:lnB w="12700" cap="flat" cmpd="sng" algn="ctr">
                      <a:solidFill>
                        <a:srgbClr val="474B4E"/>
                      </a:solidFill>
                      <a:prstDash val="solid"/>
                      <a:round/>
                      <a:headEnd type="none" w="med" len="med"/>
                      <a:tailEnd type="none" w="med" len="med"/>
                    </a:lnB>
                  </a:tcPr>
                </a:tc>
                <a:tc>
                  <a:txBody>
                    <a:bodyPr/>
                    <a:lstStyle/>
                    <a:p>
                      <a:pPr algn="r" indent="0" marL="0">
                        <a:lnSpc>
                          <a:spcPts val="1960"/>
                        </a:lnSpc>
                        <a:buNone/>
                      </a:pPr>
                      <a:r>
                        <a:rPr lang="en-US" sz="1400" dirty="0">
                          <a:solidFill>
                            <a:srgbClr val="F7F7F4"/>
                          </a:solidFill>
                          <a:latin typeface="IBM Plex Sans" pitchFamily="34" charset="0"/>
                          <a:ea typeface="IBM Plex Sans" pitchFamily="34" charset="-122"/>
                          <a:cs typeface="IBM Plex Sans" pitchFamily="34" charset="-120"/>
                        </a:rPr>
                        <a:t>0.62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B4E"/>
                      </a:solidFill>
                      <a:prstDash val="solid"/>
                      <a:round/>
                      <a:headEnd type="none" w="med" len="med"/>
                      <a:tailEnd type="none" w="med" len="med"/>
                    </a:lnL>
                    <a:lnR w="12700" cap="flat" cmpd="sng" algn="ctr">
                      <a:solidFill>
                        <a:srgbClr val="474B4E"/>
                      </a:solidFill>
                      <a:prstDash val="solid"/>
                      <a:round/>
                      <a:headEnd type="none" w="med" len="med"/>
                      <a:tailEnd type="none" w="med" len="med"/>
                    </a:lnR>
                    <a:lnT w="12700" cap="flat" cmpd="sng" algn="ctr">
                      <a:solidFill>
                        <a:srgbClr val="474B4E"/>
                      </a:solidFill>
                      <a:prstDash val="solid"/>
                      <a:round/>
                      <a:headEnd type="none" w="med" len="med"/>
                      <a:tailEnd type="none" w="med" len="med"/>
                    </a:lnT>
                    <a:lnB w="12700" cap="flat" cmpd="sng" algn="ctr">
                      <a:solidFill>
                        <a:srgbClr val="474B4E"/>
                      </a:solidFill>
                      <a:prstDash val="solid"/>
                      <a:round/>
                      <a:headEnd type="none" w="med" len="med"/>
                      <a:tailEnd type="none" w="med" len="med"/>
                    </a:lnB>
                  </a:tcPr>
                </a:tc>
                <a:tc>
                  <a:txBody>
                    <a:bodyPr/>
                    <a:lstStyle/>
                    <a:p>
                      <a:pPr algn="r" indent="0" marL="0">
                        <a:lnSpc>
                          <a:spcPts val="1960"/>
                        </a:lnSpc>
                        <a:buNone/>
                      </a:pPr>
                      <a:r>
                        <a:rPr lang="en-US" sz="1400" dirty="0">
                          <a:solidFill>
                            <a:srgbClr val="F7F7F4"/>
                          </a:solidFill>
                          <a:latin typeface="IBM Plex Sans" pitchFamily="34" charset="0"/>
                          <a:ea typeface="IBM Plex Sans" pitchFamily="34" charset="-122"/>
                          <a:cs typeface="IBM Plex Sans" pitchFamily="34" charset="-120"/>
                        </a:rPr>
                        <a:t>0.77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B4E"/>
                      </a:solidFill>
                      <a:prstDash val="solid"/>
                      <a:round/>
                      <a:headEnd type="none" w="med" len="med"/>
                      <a:tailEnd type="none" w="med" len="med"/>
                    </a:lnL>
                    <a:lnR w="12700" cap="flat" cmpd="sng" algn="ctr">
                      <a:solidFill>
                        <a:srgbClr val="474B4E"/>
                      </a:solidFill>
                      <a:prstDash val="solid"/>
                      <a:round/>
                      <a:headEnd type="none" w="med" len="med"/>
                      <a:tailEnd type="none" w="med" len="med"/>
                    </a:lnR>
                    <a:lnT w="12700" cap="flat" cmpd="sng" algn="ctr">
                      <a:solidFill>
                        <a:srgbClr val="474B4E"/>
                      </a:solidFill>
                      <a:prstDash val="solid"/>
                      <a:round/>
                      <a:headEnd type="none" w="med" len="med"/>
                      <a:tailEnd type="none" w="med" len="med"/>
                    </a:lnT>
                    <a:lnB w="12700" cap="flat" cmpd="sng" algn="ctr">
                      <a:solidFill>
                        <a:srgbClr val="474B4E"/>
                      </a:solidFill>
                      <a:prstDash val="solid"/>
                      <a:round/>
                      <a:headEnd type="none" w="med" len="med"/>
                      <a:tailEnd type="none" w="med" len="med"/>
                    </a:lnB>
                  </a:tcPr>
                </a:tc>
                <a:tc>
                  <a:txBody>
                    <a:bodyPr/>
                    <a:lstStyle/>
                    <a:p>
                      <a:pPr algn="r" indent="0" marL="0">
                        <a:lnSpc>
                          <a:spcPts val="1960"/>
                        </a:lnSpc>
                        <a:buNone/>
                      </a:pPr>
                      <a:r>
                        <a:rPr lang="en-US" sz="1400" dirty="0">
                          <a:solidFill>
                            <a:srgbClr val="E09A6A"/>
                          </a:solidFill>
                          <a:latin typeface="IBM Plex Sans" pitchFamily="34" charset="0"/>
                          <a:ea typeface="IBM Plex Sans" pitchFamily="34" charset="-122"/>
                          <a:cs typeface="IBM Plex Sans" pitchFamily="34" charset="-120"/>
                        </a:rPr>
                        <a:t>+0.15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B4E"/>
                      </a:solidFill>
                      <a:prstDash val="solid"/>
                      <a:round/>
                      <a:headEnd type="none" w="med" len="med"/>
                      <a:tailEnd type="none" w="med" len="med"/>
                    </a:lnL>
                    <a:lnR w="12700" cap="flat" cmpd="sng" algn="ctr">
                      <a:solidFill>
                        <a:srgbClr val="474B4E"/>
                      </a:solidFill>
                      <a:prstDash val="solid"/>
                      <a:round/>
                      <a:headEnd type="none" w="med" len="med"/>
                      <a:tailEnd type="none" w="med" len="med"/>
                    </a:lnR>
                    <a:lnT w="12700" cap="flat" cmpd="sng" algn="ctr">
                      <a:solidFill>
                        <a:srgbClr val="474B4E"/>
                      </a:solidFill>
                      <a:prstDash val="solid"/>
                      <a:round/>
                      <a:headEnd type="none" w="med" len="med"/>
                      <a:tailEnd type="none" w="med" len="med"/>
                    </a:lnT>
                    <a:lnB w="12700" cap="flat" cmpd="sng" algn="ctr">
                      <a:solidFill>
                        <a:srgbClr val="474B4E"/>
                      </a:solidFill>
                      <a:prstDash val="solid"/>
                      <a:round/>
                      <a:headEnd type="none" w="med" len="med"/>
                      <a:tailEnd type="none" w="med" len="med"/>
                    </a:lnB>
                  </a:tcPr>
                </a:tc>
              </a:tr>
              <a:tr h="386011">
                <a:tc>
                  <a:txBody>
                    <a:bodyPr/>
                    <a:lstStyle/>
                    <a:p>
                      <a:pPr indent="0" marL="0">
                        <a:lnSpc>
                          <a:spcPts val="1960"/>
                        </a:lnSpc>
                        <a:buNone/>
                      </a:pPr>
                      <a:r>
                        <a:rPr lang="en-US" sz="1400" dirty="0">
                          <a:solidFill>
                            <a:srgbClr val="F7F7F4"/>
                          </a:solidFill>
                          <a:latin typeface="IBM Plex Sans" pitchFamily="34" charset="0"/>
                          <a:ea typeface="IBM Plex Sans" pitchFamily="34" charset="-122"/>
                          <a:cs typeface="IBM Plex Sans" pitchFamily="34" charset="-120"/>
                        </a:rPr>
                        <a:t>PRAD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B4E"/>
                      </a:solidFill>
                      <a:prstDash val="solid"/>
                      <a:round/>
                      <a:headEnd type="none" w="med" len="med"/>
                      <a:tailEnd type="none" w="med" len="med"/>
                    </a:lnL>
                    <a:lnR w="12700" cap="flat" cmpd="sng" algn="ctr">
                      <a:solidFill>
                        <a:srgbClr val="474B4E"/>
                      </a:solidFill>
                      <a:prstDash val="solid"/>
                      <a:round/>
                      <a:headEnd type="none" w="med" len="med"/>
                      <a:tailEnd type="none" w="med" len="med"/>
                    </a:lnR>
                    <a:lnT w="12700" cap="flat" cmpd="sng" algn="ctr">
                      <a:solidFill>
                        <a:srgbClr val="474B4E"/>
                      </a:solidFill>
                      <a:prstDash val="solid"/>
                      <a:round/>
                      <a:headEnd type="none" w="med" len="med"/>
                      <a:tailEnd type="none" w="med" len="med"/>
                    </a:lnT>
                    <a:lnB w="12700" cap="flat" cmpd="sng" algn="ctr">
                      <a:solidFill>
                        <a:srgbClr val="474B4E"/>
                      </a:solidFill>
                      <a:prstDash val="solid"/>
                      <a:round/>
                      <a:headEnd type="none" w="med" len="med"/>
                      <a:tailEnd type="none" w="med" len="med"/>
                    </a:lnB>
                  </a:tcPr>
                </a:tc>
                <a:tc>
                  <a:txBody>
                    <a:bodyPr/>
                    <a:lstStyle/>
                    <a:p>
                      <a:pPr algn="r" indent="0" marL="0">
                        <a:lnSpc>
                          <a:spcPts val="1960"/>
                        </a:lnSpc>
                        <a:buNone/>
                      </a:pPr>
                      <a:r>
                        <a:rPr lang="en-US" sz="1400" dirty="0">
                          <a:solidFill>
                            <a:srgbClr val="F7F7F4"/>
                          </a:solidFill>
                          <a:latin typeface="IBM Plex Sans" pitchFamily="34" charset="0"/>
                          <a:ea typeface="IBM Plex Sans" pitchFamily="34" charset="-122"/>
                          <a:cs typeface="IBM Plex Sans" pitchFamily="34" charset="-120"/>
                        </a:rPr>
                        <a:t>0.65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B4E"/>
                      </a:solidFill>
                      <a:prstDash val="solid"/>
                      <a:round/>
                      <a:headEnd type="none" w="med" len="med"/>
                      <a:tailEnd type="none" w="med" len="med"/>
                    </a:lnL>
                    <a:lnR w="12700" cap="flat" cmpd="sng" algn="ctr">
                      <a:solidFill>
                        <a:srgbClr val="474B4E"/>
                      </a:solidFill>
                      <a:prstDash val="solid"/>
                      <a:round/>
                      <a:headEnd type="none" w="med" len="med"/>
                      <a:tailEnd type="none" w="med" len="med"/>
                    </a:lnR>
                    <a:lnT w="12700" cap="flat" cmpd="sng" algn="ctr">
                      <a:solidFill>
                        <a:srgbClr val="474B4E"/>
                      </a:solidFill>
                      <a:prstDash val="solid"/>
                      <a:round/>
                      <a:headEnd type="none" w="med" len="med"/>
                      <a:tailEnd type="none" w="med" len="med"/>
                    </a:lnT>
                    <a:lnB w="12700" cap="flat" cmpd="sng" algn="ctr">
                      <a:solidFill>
                        <a:srgbClr val="474B4E"/>
                      </a:solidFill>
                      <a:prstDash val="solid"/>
                      <a:round/>
                      <a:headEnd type="none" w="med" len="med"/>
                      <a:tailEnd type="none" w="med" len="med"/>
                    </a:lnB>
                  </a:tcPr>
                </a:tc>
                <a:tc>
                  <a:txBody>
                    <a:bodyPr/>
                    <a:lstStyle/>
                    <a:p>
                      <a:pPr algn="r" indent="0" marL="0">
                        <a:lnSpc>
                          <a:spcPts val="1960"/>
                        </a:lnSpc>
                        <a:buNone/>
                      </a:pPr>
                      <a:r>
                        <a:rPr lang="en-US" sz="1400" dirty="0">
                          <a:solidFill>
                            <a:srgbClr val="F7F7F4"/>
                          </a:solidFill>
                          <a:latin typeface="IBM Plex Sans" pitchFamily="34" charset="0"/>
                          <a:ea typeface="IBM Plex Sans" pitchFamily="34" charset="-122"/>
                          <a:cs typeface="IBM Plex Sans" pitchFamily="34" charset="-120"/>
                        </a:rPr>
                        <a:t>0.78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B4E"/>
                      </a:solidFill>
                      <a:prstDash val="solid"/>
                      <a:round/>
                      <a:headEnd type="none" w="med" len="med"/>
                      <a:tailEnd type="none" w="med" len="med"/>
                    </a:lnL>
                    <a:lnR w="12700" cap="flat" cmpd="sng" algn="ctr">
                      <a:solidFill>
                        <a:srgbClr val="474B4E"/>
                      </a:solidFill>
                      <a:prstDash val="solid"/>
                      <a:round/>
                      <a:headEnd type="none" w="med" len="med"/>
                      <a:tailEnd type="none" w="med" len="med"/>
                    </a:lnR>
                    <a:lnT w="12700" cap="flat" cmpd="sng" algn="ctr">
                      <a:solidFill>
                        <a:srgbClr val="474B4E"/>
                      </a:solidFill>
                      <a:prstDash val="solid"/>
                      <a:round/>
                      <a:headEnd type="none" w="med" len="med"/>
                      <a:tailEnd type="none" w="med" len="med"/>
                    </a:lnT>
                    <a:lnB w="12700" cap="flat" cmpd="sng" algn="ctr">
                      <a:solidFill>
                        <a:srgbClr val="474B4E"/>
                      </a:solidFill>
                      <a:prstDash val="solid"/>
                      <a:round/>
                      <a:headEnd type="none" w="med" len="med"/>
                      <a:tailEnd type="none" w="med" len="med"/>
                    </a:lnB>
                  </a:tcPr>
                </a:tc>
                <a:tc>
                  <a:txBody>
                    <a:bodyPr/>
                    <a:lstStyle/>
                    <a:p>
                      <a:pPr algn="r" indent="0" marL="0">
                        <a:lnSpc>
                          <a:spcPts val="1960"/>
                        </a:lnSpc>
                        <a:buNone/>
                      </a:pPr>
                      <a:r>
                        <a:rPr lang="en-US" sz="1400" dirty="0">
                          <a:solidFill>
                            <a:srgbClr val="E09A6A"/>
                          </a:solidFill>
                          <a:latin typeface="IBM Plex Sans" pitchFamily="34" charset="0"/>
                          <a:ea typeface="IBM Plex Sans" pitchFamily="34" charset="-122"/>
                          <a:cs typeface="IBM Plex Sans" pitchFamily="34" charset="-120"/>
                        </a:rPr>
                        <a:t>+0.13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B4E"/>
                      </a:solidFill>
                      <a:prstDash val="solid"/>
                      <a:round/>
                      <a:headEnd type="none" w="med" len="med"/>
                      <a:tailEnd type="none" w="med" len="med"/>
                    </a:lnL>
                    <a:lnR w="12700" cap="flat" cmpd="sng" algn="ctr">
                      <a:solidFill>
                        <a:srgbClr val="474B4E"/>
                      </a:solidFill>
                      <a:prstDash val="solid"/>
                      <a:round/>
                      <a:headEnd type="none" w="med" len="med"/>
                      <a:tailEnd type="none" w="med" len="med"/>
                    </a:lnR>
                    <a:lnT w="12700" cap="flat" cmpd="sng" algn="ctr">
                      <a:solidFill>
                        <a:srgbClr val="474B4E"/>
                      </a:solidFill>
                      <a:prstDash val="solid"/>
                      <a:round/>
                      <a:headEnd type="none" w="med" len="med"/>
                      <a:tailEnd type="none" w="med" len="med"/>
                    </a:lnT>
                    <a:lnB w="12700" cap="flat" cmpd="sng" algn="ctr">
                      <a:solidFill>
                        <a:srgbClr val="474B4E"/>
                      </a:solidFill>
                      <a:prstDash val="solid"/>
                      <a:round/>
                      <a:headEnd type="none" w="med" len="med"/>
                      <a:tailEnd type="none" w="med" len="med"/>
                    </a:lnB>
                  </a:tcPr>
                </a:tc>
              </a:tr>
              <a:tr h="386011">
                <a:tc>
                  <a:txBody>
                    <a:bodyPr/>
                    <a:lstStyle/>
                    <a:p>
                      <a:pPr indent="0" marL="0">
                        <a:lnSpc>
                          <a:spcPts val="1960"/>
                        </a:lnSpc>
                        <a:buNone/>
                      </a:pPr>
                      <a:r>
                        <a:rPr lang="en-US" sz="1400" dirty="0">
                          <a:solidFill>
                            <a:srgbClr val="F7F7F4"/>
                          </a:solidFill>
                          <a:latin typeface="IBM Plex Sans" pitchFamily="34" charset="0"/>
                          <a:ea typeface="IBM Plex Sans" pitchFamily="34" charset="-122"/>
                          <a:cs typeface="IBM Plex Sans" pitchFamily="34" charset="-120"/>
                        </a:rPr>
                        <a:t>LGG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B4E"/>
                      </a:solidFill>
                      <a:prstDash val="solid"/>
                      <a:round/>
                      <a:headEnd type="none" w="med" len="med"/>
                      <a:tailEnd type="none" w="med" len="med"/>
                    </a:lnL>
                    <a:lnR w="12700" cap="flat" cmpd="sng" algn="ctr">
                      <a:solidFill>
                        <a:srgbClr val="474B4E"/>
                      </a:solidFill>
                      <a:prstDash val="solid"/>
                      <a:round/>
                      <a:headEnd type="none" w="med" len="med"/>
                      <a:tailEnd type="none" w="med" len="med"/>
                    </a:lnR>
                    <a:lnT w="12700" cap="flat" cmpd="sng" algn="ctr">
                      <a:solidFill>
                        <a:srgbClr val="474B4E"/>
                      </a:solidFill>
                      <a:prstDash val="solid"/>
                      <a:round/>
                      <a:headEnd type="none" w="med" len="med"/>
                      <a:tailEnd type="none" w="med" len="med"/>
                    </a:lnT>
                    <a:lnB w="12700" cap="flat" cmpd="sng" algn="ctr">
                      <a:solidFill>
                        <a:srgbClr val="474B4E"/>
                      </a:solidFill>
                      <a:prstDash val="solid"/>
                      <a:round/>
                      <a:headEnd type="none" w="med" len="med"/>
                      <a:tailEnd type="none" w="med" len="med"/>
                    </a:lnB>
                  </a:tcPr>
                </a:tc>
                <a:tc>
                  <a:txBody>
                    <a:bodyPr/>
                    <a:lstStyle/>
                    <a:p>
                      <a:pPr algn="r" indent="0" marL="0">
                        <a:lnSpc>
                          <a:spcPts val="1960"/>
                        </a:lnSpc>
                        <a:buNone/>
                      </a:pPr>
                      <a:r>
                        <a:rPr lang="en-US" sz="1400" dirty="0">
                          <a:solidFill>
                            <a:srgbClr val="F7F7F4"/>
                          </a:solidFill>
                          <a:latin typeface="IBM Plex Sans" pitchFamily="34" charset="0"/>
                          <a:ea typeface="IBM Plex Sans" pitchFamily="34" charset="-122"/>
                          <a:cs typeface="IBM Plex Sans" pitchFamily="34" charset="-120"/>
                        </a:rPr>
                        <a:t>0.78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B4E"/>
                      </a:solidFill>
                      <a:prstDash val="solid"/>
                      <a:round/>
                      <a:headEnd type="none" w="med" len="med"/>
                      <a:tailEnd type="none" w="med" len="med"/>
                    </a:lnL>
                    <a:lnR w="12700" cap="flat" cmpd="sng" algn="ctr">
                      <a:solidFill>
                        <a:srgbClr val="474B4E"/>
                      </a:solidFill>
                      <a:prstDash val="solid"/>
                      <a:round/>
                      <a:headEnd type="none" w="med" len="med"/>
                      <a:tailEnd type="none" w="med" len="med"/>
                    </a:lnR>
                    <a:lnT w="12700" cap="flat" cmpd="sng" algn="ctr">
                      <a:solidFill>
                        <a:srgbClr val="474B4E"/>
                      </a:solidFill>
                      <a:prstDash val="solid"/>
                      <a:round/>
                      <a:headEnd type="none" w="med" len="med"/>
                      <a:tailEnd type="none" w="med" len="med"/>
                    </a:lnT>
                    <a:lnB w="12700" cap="flat" cmpd="sng" algn="ctr">
                      <a:solidFill>
                        <a:srgbClr val="474B4E"/>
                      </a:solidFill>
                      <a:prstDash val="solid"/>
                      <a:round/>
                      <a:headEnd type="none" w="med" len="med"/>
                      <a:tailEnd type="none" w="med" len="med"/>
                    </a:lnB>
                  </a:tcPr>
                </a:tc>
                <a:tc>
                  <a:txBody>
                    <a:bodyPr/>
                    <a:lstStyle/>
                    <a:p>
                      <a:pPr algn="r" indent="0" marL="0">
                        <a:lnSpc>
                          <a:spcPts val="1960"/>
                        </a:lnSpc>
                        <a:buNone/>
                      </a:pPr>
                      <a:r>
                        <a:rPr lang="en-US" sz="1400" dirty="0">
                          <a:solidFill>
                            <a:srgbClr val="F7F7F4"/>
                          </a:solidFill>
                          <a:latin typeface="IBM Plex Sans" pitchFamily="34" charset="0"/>
                          <a:ea typeface="IBM Plex Sans" pitchFamily="34" charset="-122"/>
                          <a:cs typeface="IBM Plex Sans" pitchFamily="34" charset="-120"/>
                        </a:rPr>
                        <a:t>0.88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B4E"/>
                      </a:solidFill>
                      <a:prstDash val="solid"/>
                      <a:round/>
                      <a:headEnd type="none" w="med" len="med"/>
                      <a:tailEnd type="none" w="med" len="med"/>
                    </a:lnL>
                    <a:lnR w="12700" cap="flat" cmpd="sng" algn="ctr">
                      <a:solidFill>
                        <a:srgbClr val="474B4E"/>
                      </a:solidFill>
                      <a:prstDash val="solid"/>
                      <a:round/>
                      <a:headEnd type="none" w="med" len="med"/>
                      <a:tailEnd type="none" w="med" len="med"/>
                    </a:lnR>
                    <a:lnT w="12700" cap="flat" cmpd="sng" algn="ctr">
                      <a:solidFill>
                        <a:srgbClr val="474B4E"/>
                      </a:solidFill>
                      <a:prstDash val="solid"/>
                      <a:round/>
                      <a:headEnd type="none" w="med" len="med"/>
                      <a:tailEnd type="none" w="med" len="med"/>
                    </a:lnT>
                    <a:lnB w="12700" cap="flat" cmpd="sng" algn="ctr">
                      <a:solidFill>
                        <a:srgbClr val="474B4E"/>
                      </a:solidFill>
                      <a:prstDash val="solid"/>
                      <a:round/>
                      <a:headEnd type="none" w="med" len="med"/>
                      <a:tailEnd type="none" w="med" len="med"/>
                    </a:lnB>
                  </a:tcPr>
                </a:tc>
                <a:tc>
                  <a:txBody>
                    <a:bodyPr/>
                    <a:lstStyle/>
                    <a:p>
                      <a:pPr algn="r" indent="0" marL="0">
                        <a:lnSpc>
                          <a:spcPts val="1960"/>
                        </a:lnSpc>
                        <a:buNone/>
                      </a:pPr>
                      <a:r>
                        <a:rPr lang="en-US" sz="1400" dirty="0">
                          <a:solidFill>
                            <a:srgbClr val="E09A6A"/>
                          </a:solidFill>
                          <a:latin typeface="IBM Plex Sans" pitchFamily="34" charset="0"/>
                          <a:ea typeface="IBM Plex Sans" pitchFamily="34" charset="-122"/>
                          <a:cs typeface="IBM Plex Sans" pitchFamily="34" charset="-120"/>
                        </a:rPr>
                        <a:t>+0.10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B4E"/>
                      </a:solidFill>
                      <a:prstDash val="solid"/>
                      <a:round/>
                      <a:headEnd type="none" w="med" len="med"/>
                      <a:tailEnd type="none" w="med" len="med"/>
                    </a:lnL>
                    <a:lnR w="12700" cap="flat" cmpd="sng" algn="ctr">
                      <a:solidFill>
                        <a:srgbClr val="474B4E"/>
                      </a:solidFill>
                      <a:prstDash val="solid"/>
                      <a:round/>
                      <a:headEnd type="none" w="med" len="med"/>
                      <a:tailEnd type="none" w="med" len="med"/>
                    </a:lnR>
                    <a:lnT w="12700" cap="flat" cmpd="sng" algn="ctr">
                      <a:solidFill>
                        <a:srgbClr val="474B4E"/>
                      </a:solidFill>
                      <a:prstDash val="solid"/>
                      <a:round/>
                      <a:headEnd type="none" w="med" len="med"/>
                      <a:tailEnd type="none" w="med" len="med"/>
                    </a:lnT>
                    <a:lnB w="12700" cap="flat" cmpd="sng" algn="ctr">
                      <a:solidFill>
                        <a:srgbClr val="474B4E"/>
                      </a:solidFill>
                      <a:prstDash val="solid"/>
                      <a:round/>
                      <a:headEnd type="none" w="med" len="med"/>
                      <a:tailEnd type="none" w="med" len="med"/>
                    </a:lnB>
                  </a:tcPr>
                </a:tc>
              </a:tr>
              <a:tr h="386011">
                <a:tc>
                  <a:txBody>
                    <a:bodyPr/>
                    <a:lstStyle/>
                    <a:p>
                      <a:pPr indent="0" marL="0">
                        <a:lnSpc>
                          <a:spcPts val="1960"/>
                        </a:lnSpc>
                        <a:buNone/>
                      </a:pPr>
                      <a:r>
                        <a:rPr lang="en-US" sz="1400" dirty="0">
                          <a:solidFill>
                            <a:srgbClr val="F7F7F4"/>
                          </a:solidFill>
                          <a:latin typeface="IBM Plex Sans" pitchFamily="34" charset="0"/>
                          <a:ea typeface="IBM Plex Sans" pitchFamily="34" charset="-122"/>
                          <a:cs typeface="IBM Plex Sans" pitchFamily="34" charset="-120"/>
                        </a:rPr>
                        <a:t>HNSC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B4E"/>
                      </a:solidFill>
                      <a:prstDash val="solid"/>
                      <a:round/>
                      <a:headEnd type="none" w="med" len="med"/>
                      <a:tailEnd type="none" w="med" len="med"/>
                    </a:lnL>
                    <a:lnR w="12700" cap="flat" cmpd="sng" algn="ctr">
                      <a:solidFill>
                        <a:srgbClr val="474B4E"/>
                      </a:solidFill>
                      <a:prstDash val="solid"/>
                      <a:round/>
                      <a:headEnd type="none" w="med" len="med"/>
                      <a:tailEnd type="none" w="med" len="med"/>
                    </a:lnR>
                    <a:lnT w="12700" cap="flat" cmpd="sng" algn="ctr">
                      <a:solidFill>
                        <a:srgbClr val="474B4E"/>
                      </a:solidFill>
                      <a:prstDash val="solid"/>
                      <a:round/>
                      <a:headEnd type="none" w="med" len="med"/>
                      <a:tailEnd type="none" w="med" len="med"/>
                    </a:lnT>
                    <a:lnB w="12700" cap="flat" cmpd="sng" algn="ctr">
                      <a:solidFill>
                        <a:srgbClr val="474B4E"/>
                      </a:solidFill>
                      <a:prstDash val="solid"/>
                      <a:round/>
                      <a:headEnd type="none" w="med" len="med"/>
                      <a:tailEnd type="none" w="med" len="med"/>
                    </a:lnB>
                  </a:tcPr>
                </a:tc>
                <a:tc>
                  <a:txBody>
                    <a:bodyPr/>
                    <a:lstStyle/>
                    <a:p>
                      <a:pPr algn="r" indent="0" marL="0">
                        <a:lnSpc>
                          <a:spcPts val="1960"/>
                        </a:lnSpc>
                        <a:buNone/>
                      </a:pPr>
                      <a:r>
                        <a:rPr lang="en-US" sz="1400" dirty="0">
                          <a:solidFill>
                            <a:srgbClr val="F7F7F4"/>
                          </a:solidFill>
                          <a:latin typeface="IBM Plex Sans" pitchFamily="34" charset="0"/>
                          <a:ea typeface="IBM Plex Sans" pitchFamily="34" charset="-122"/>
                          <a:cs typeface="IBM Plex Sans" pitchFamily="34" charset="-120"/>
                        </a:rPr>
                        <a:t>0.56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B4E"/>
                      </a:solidFill>
                      <a:prstDash val="solid"/>
                      <a:round/>
                      <a:headEnd type="none" w="med" len="med"/>
                      <a:tailEnd type="none" w="med" len="med"/>
                    </a:lnL>
                    <a:lnR w="12700" cap="flat" cmpd="sng" algn="ctr">
                      <a:solidFill>
                        <a:srgbClr val="474B4E"/>
                      </a:solidFill>
                      <a:prstDash val="solid"/>
                      <a:round/>
                      <a:headEnd type="none" w="med" len="med"/>
                      <a:tailEnd type="none" w="med" len="med"/>
                    </a:lnR>
                    <a:lnT w="12700" cap="flat" cmpd="sng" algn="ctr">
                      <a:solidFill>
                        <a:srgbClr val="474B4E"/>
                      </a:solidFill>
                      <a:prstDash val="solid"/>
                      <a:round/>
                      <a:headEnd type="none" w="med" len="med"/>
                      <a:tailEnd type="none" w="med" len="med"/>
                    </a:lnT>
                    <a:lnB w="12700" cap="flat" cmpd="sng" algn="ctr">
                      <a:solidFill>
                        <a:srgbClr val="474B4E"/>
                      </a:solidFill>
                      <a:prstDash val="solid"/>
                      <a:round/>
                      <a:headEnd type="none" w="med" len="med"/>
                      <a:tailEnd type="none" w="med" len="med"/>
                    </a:lnB>
                  </a:tcPr>
                </a:tc>
                <a:tc>
                  <a:txBody>
                    <a:bodyPr/>
                    <a:lstStyle/>
                    <a:p>
                      <a:pPr algn="r" indent="0" marL="0">
                        <a:lnSpc>
                          <a:spcPts val="1960"/>
                        </a:lnSpc>
                        <a:buNone/>
                      </a:pPr>
                      <a:r>
                        <a:rPr lang="en-US" sz="1400" dirty="0">
                          <a:solidFill>
                            <a:srgbClr val="F7F7F4"/>
                          </a:solidFill>
                          <a:latin typeface="IBM Plex Sans" pitchFamily="34" charset="0"/>
                          <a:ea typeface="IBM Plex Sans" pitchFamily="34" charset="-122"/>
                          <a:cs typeface="IBM Plex Sans" pitchFamily="34" charset="-120"/>
                        </a:rPr>
                        <a:t>0.64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B4E"/>
                      </a:solidFill>
                      <a:prstDash val="solid"/>
                      <a:round/>
                      <a:headEnd type="none" w="med" len="med"/>
                      <a:tailEnd type="none" w="med" len="med"/>
                    </a:lnL>
                    <a:lnR w="12700" cap="flat" cmpd="sng" algn="ctr">
                      <a:solidFill>
                        <a:srgbClr val="474B4E"/>
                      </a:solidFill>
                      <a:prstDash val="solid"/>
                      <a:round/>
                      <a:headEnd type="none" w="med" len="med"/>
                      <a:tailEnd type="none" w="med" len="med"/>
                    </a:lnR>
                    <a:lnT w="12700" cap="flat" cmpd="sng" algn="ctr">
                      <a:solidFill>
                        <a:srgbClr val="474B4E"/>
                      </a:solidFill>
                      <a:prstDash val="solid"/>
                      <a:round/>
                      <a:headEnd type="none" w="med" len="med"/>
                      <a:tailEnd type="none" w="med" len="med"/>
                    </a:lnT>
                    <a:lnB w="12700" cap="flat" cmpd="sng" algn="ctr">
                      <a:solidFill>
                        <a:srgbClr val="474B4E"/>
                      </a:solidFill>
                      <a:prstDash val="solid"/>
                      <a:round/>
                      <a:headEnd type="none" w="med" len="med"/>
                      <a:tailEnd type="none" w="med" len="med"/>
                    </a:lnB>
                  </a:tcPr>
                </a:tc>
                <a:tc>
                  <a:txBody>
                    <a:bodyPr/>
                    <a:lstStyle/>
                    <a:p>
                      <a:pPr algn="r" indent="0" marL="0">
                        <a:lnSpc>
                          <a:spcPts val="1960"/>
                        </a:lnSpc>
                        <a:buNone/>
                      </a:pPr>
                      <a:r>
                        <a:rPr lang="en-US" sz="1400" dirty="0">
                          <a:solidFill>
                            <a:srgbClr val="E09A6A"/>
                          </a:solidFill>
                          <a:latin typeface="IBM Plex Sans" pitchFamily="34" charset="0"/>
                          <a:ea typeface="IBM Plex Sans" pitchFamily="34" charset="-122"/>
                          <a:cs typeface="IBM Plex Sans" pitchFamily="34" charset="-120"/>
                        </a:rPr>
                        <a:t>+0.08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B4E"/>
                      </a:solidFill>
                      <a:prstDash val="solid"/>
                      <a:round/>
                      <a:headEnd type="none" w="med" len="med"/>
                      <a:tailEnd type="none" w="med" len="med"/>
                    </a:lnL>
                    <a:lnR w="12700" cap="flat" cmpd="sng" algn="ctr">
                      <a:solidFill>
                        <a:srgbClr val="474B4E"/>
                      </a:solidFill>
                      <a:prstDash val="solid"/>
                      <a:round/>
                      <a:headEnd type="none" w="med" len="med"/>
                      <a:tailEnd type="none" w="med" len="med"/>
                    </a:lnR>
                    <a:lnT w="12700" cap="flat" cmpd="sng" algn="ctr">
                      <a:solidFill>
                        <a:srgbClr val="474B4E"/>
                      </a:solidFill>
                      <a:prstDash val="solid"/>
                      <a:round/>
                      <a:headEnd type="none" w="med" len="med"/>
                      <a:tailEnd type="none" w="med" len="med"/>
                    </a:lnT>
                    <a:lnB w="12700" cap="flat" cmpd="sng" algn="ctr">
                      <a:solidFill>
                        <a:srgbClr val="474B4E"/>
                      </a:solidFill>
                      <a:prstDash val="solid"/>
                      <a:round/>
                      <a:headEnd type="none" w="med" len="med"/>
                      <a:tailEnd type="none" w="med" len="med"/>
                    </a:lnB>
                  </a:tcPr>
                </a:tc>
              </a:tr>
              <a:tr h="386011">
                <a:tc>
                  <a:txBody>
                    <a:bodyPr/>
                    <a:lstStyle/>
                    <a:p>
                      <a:pPr indent="0" marL="0">
                        <a:lnSpc>
                          <a:spcPts val="1960"/>
                        </a:lnSpc>
                        <a:buNone/>
                      </a:pPr>
                      <a:r>
                        <a:rPr lang="en-US" sz="1400" dirty="0">
                          <a:solidFill>
                            <a:srgbClr val="F7F7F4"/>
                          </a:solidFill>
                          <a:latin typeface="IBM Plex Sans" pitchFamily="34" charset="0"/>
                          <a:ea typeface="IBM Plex Sans" pitchFamily="34" charset="-122"/>
                          <a:cs typeface="IBM Plex Sans" pitchFamily="34" charset="-120"/>
                        </a:rPr>
                        <a:t>LUAD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B4E"/>
                      </a:solidFill>
                      <a:prstDash val="solid"/>
                      <a:round/>
                      <a:headEnd type="none" w="med" len="med"/>
                      <a:tailEnd type="none" w="med" len="med"/>
                    </a:lnL>
                    <a:lnR w="12700" cap="flat" cmpd="sng" algn="ctr">
                      <a:solidFill>
                        <a:srgbClr val="474B4E"/>
                      </a:solidFill>
                      <a:prstDash val="solid"/>
                      <a:round/>
                      <a:headEnd type="none" w="med" len="med"/>
                      <a:tailEnd type="none" w="med" len="med"/>
                    </a:lnR>
                    <a:lnT w="12700" cap="flat" cmpd="sng" algn="ctr">
                      <a:solidFill>
                        <a:srgbClr val="474B4E"/>
                      </a:solidFill>
                      <a:prstDash val="solid"/>
                      <a:round/>
                      <a:headEnd type="none" w="med" len="med"/>
                      <a:tailEnd type="none" w="med" len="med"/>
                    </a:lnT>
                    <a:lnB w="12700" cap="flat" cmpd="sng" algn="ctr">
                      <a:solidFill>
                        <a:srgbClr val="474B4E"/>
                      </a:solidFill>
                      <a:prstDash val="solid"/>
                      <a:round/>
                      <a:headEnd type="none" w="med" len="med"/>
                      <a:tailEnd type="none" w="med" len="med"/>
                    </a:lnB>
                  </a:tcPr>
                </a:tc>
                <a:tc>
                  <a:txBody>
                    <a:bodyPr/>
                    <a:lstStyle/>
                    <a:p>
                      <a:pPr algn="r" indent="0" marL="0">
                        <a:lnSpc>
                          <a:spcPts val="1960"/>
                        </a:lnSpc>
                        <a:buNone/>
                      </a:pPr>
                      <a:r>
                        <a:rPr lang="en-US" sz="1400" dirty="0">
                          <a:solidFill>
                            <a:srgbClr val="F7F7F4"/>
                          </a:solidFill>
                          <a:latin typeface="IBM Plex Sans" pitchFamily="34" charset="0"/>
                          <a:ea typeface="IBM Plex Sans" pitchFamily="34" charset="-122"/>
                          <a:cs typeface="IBM Plex Sans" pitchFamily="34" charset="-120"/>
                        </a:rPr>
                        <a:t>0.64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B4E"/>
                      </a:solidFill>
                      <a:prstDash val="solid"/>
                      <a:round/>
                      <a:headEnd type="none" w="med" len="med"/>
                      <a:tailEnd type="none" w="med" len="med"/>
                    </a:lnL>
                    <a:lnR w="12700" cap="flat" cmpd="sng" algn="ctr">
                      <a:solidFill>
                        <a:srgbClr val="474B4E"/>
                      </a:solidFill>
                      <a:prstDash val="solid"/>
                      <a:round/>
                      <a:headEnd type="none" w="med" len="med"/>
                      <a:tailEnd type="none" w="med" len="med"/>
                    </a:lnR>
                    <a:lnT w="12700" cap="flat" cmpd="sng" algn="ctr">
                      <a:solidFill>
                        <a:srgbClr val="474B4E"/>
                      </a:solidFill>
                      <a:prstDash val="solid"/>
                      <a:round/>
                      <a:headEnd type="none" w="med" len="med"/>
                      <a:tailEnd type="none" w="med" len="med"/>
                    </a:lnT>
                    <a:lnB w="12700" cap="flat" cmpd="sng" algn="ctr">
                      <a:solidFill>
                        <a:srgbClr val="474B4E"/>
                      </a:solidFill>
                      <a:prstDash val="solid"/>
                      <a:round/>
                      <a:headEnd type="none" w="med" len="med"/>
                      <a:tailEnd type="none" w="med" len="med"/>
                    </a:lnB>
                  </a:tcPr>
                </a:tc>
                <a:tc>
                  <a:txBody>
                    <a:bodyPr/>
                    <a:lstStyle/>
                    <a:p>
                      <a:pPr algn="r" indent="0" marL="0">
                        <a:lnSpc>
                          <a:spcPts val="1960"/>
                        </a:lnSpc>
                        <a:buNone/>
                      </a:pPr>
                      <a:r>
                        <a:rPr lang="en-US" sz="1400" dirty="0">
                          <a:solidFill>
                            <a:srgbClr val="F7F7F4"/>
                          </a:solidFill>
                          <a:latin typeface="IBM Plex Sans" pitchFamily="34" charset="0"/>
                          <a:ea typeface="IBM Plex Sans" pitchFamily="34" charset="-122"/>
                          <a:cs typeface="IBM Plex Sans" pitchFamily="34" charset="-120"/>
                        </a:rPr>
                        <a:t>0.62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B4E"/>
                      </a:solidFill>
                      <a:prstDash val="solid"/>
                      <a:round/>
                      <a:headEnd type="none" w="med" len="med"/>
                      <a:tailEnd type="none" w="med" len="med"/>
                    </a:lnL>
                    <a:lnR w="12700" cap="flat" cmpd="sng" algn="ctr">
                      <a:solidFill>
                        <a:srgbClr val="474B4E"/>
                      </a:solidFill>
                      <a:prstDash val="solid"/>
                      <a:round/>
                      <a:headEnd type="none" w="med" len="med"/>
                      <a:tailEnd type="none" w="med" len="med"/>
                    </a:lnR>
                    <a:lnT w="12700" cap="flat" cmpd="sng" algn="ctr">
                      <a:solidFill>
                        <a:srgbClr val="474B4E"/>
                      </a:solidFill>
                      <a:prstDash val="solid"/>
                      <a:round/>
                      <a:headEnd type="none" w="med" len="med"/>
                      <a:tailEnd type="none" w="med" len="med"/>
                    </a:lnT>
                    <a:lnB w="12700" cap="flat" cmpd="sng" algn="ctr">
                      <a:solidFill>
                        <a:srgbClr val="474B4E"/>
                      </a:solidFill>
                      <a:prstDash val="solid"/>
                      <a:round/>
                      <a:headEnd type="none" w="med" len="med"/>
                      <a:tailEnd type="none" w="med" len="med"/>
                    </a:lnB>
                  </a:tcPr>
                </a:tc>
                <a:tc>
                  <a:txBody>
                    <a:bodyPr/>
                    <a:lstStyle/>
                    <a:p>
                      <a:pPr algn="r" indent="0" marL="0">
                        <a:lnSpc>
                          <a:spcPts val="1960"/>
                        </a:lnSpc>
                        <a:buNone/>
                      </a:pPr>
                      <a:r>
                        <a:rPr lang="en-US" sz="1400" dirty="0">
                          <a:solidFill>
                            <a:srgbClr val="9AA7AD"/>
                          </a:solidFill>
                          <a:latin typeface="IBM Plex Sans" pitchFamily="34" charset="0"/>
                          <a:ea typeface="IBM Plex Sans" pitchFamily="34" charset="-122"/>
                          <a:cs typeface="IBM Plex Sans" pitchFamily="34" charset="-120"/>
                        </a:rPr>
                        <a:t>−0.02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B4E"/>
                      </a:solidFill>
                      <a:prstDash val="solid"/>
                      <a:round/>
                      <a:headEnd type="none" w="med" len="med"/>
                      <a:tailEnd type="none" w="med" len="med"/>
                    </a:lnL>
                    <a:lnR w="12700" cap="flat" cmpd="sng" algn="ctr">
                      <a:solidFill>
                        <a:srgbClr val="474B4E"/>
                      </a:solidFill>
                      <a:prstDash val="solid"/>
                      <a:round/>
                      <a:headEnd type="none" w="med" len="med"/>
                      <a:tailEnd type="none" w="med" len="med"/>
                    </a:lnR>
                    <a:lnT w="12700" cap="flat" cmpd="sng" algn="ctr">
                      <a:solidFill>
                        <a:srgbClr val="474B4E"/>
                      </a:solidFill>
                      <a:prstDash val="solid"/>
                      <a:round/>
                      <a:headEnd type="none" w="med" len="med"/>
                      <a:tailEnd type="none" w="med" len="med"/>
                    </a:lnT>
                    <a:lnB w="12700" cap="flat" cmpd="sng" algn="ctr">
                      <a:solidFill>
                        <a:srgbClr val="474B4E"/>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1379200" cy="808534"/>
          </a:xfrm>
          <a:prstGeom prst="rect">
            <a:avLst/>
          </a:prstGeom>
          <a:noFill/>
          <a:ln/>
        </p:spPr>
        <p:txBody>
          <a:bodyPr wrap="square" lIns="0" tIns="0" rIns="0" bIns="0" rtlCol="0" anchor="t">
            <a:normAutofit/>
          </a:bodyPr>
          <a:lstStyle/>
          <a:p>
            <a:pPr algn="l" indent="0" marL="0">
              <a:lnSpc>
                <a:spcPts val="3849"/>
              </a:lnSpc>
              <a:buNone/>
            </a:pPr>
            <a:r>
              <a:rPr lang="en-US" sz="3499" b="0" i="0" dirty="0">
                <a:solidFill>
                  <a:srgbClr val="141A1F"/>
                </a:solidFill>
                <a:latin typeface="Source Serif 4" pitchFamily="18" charset="0"/>
                <a:ea typeface="Source Serif 4" pitchFamily="18" charset="-122"/>
                <a:cs typeface="Source Serif 4" pitchFamily="18" charset="-120"/>
              </a:rPr>
              <a:t>Three candidates are ready for external validation</a:t>
            </a:r>
            <a:endParaRPr lang="en-US" sz="3499"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862634"/>
          <a:ext cx="10553700" cy="3266579"/>
        </p:xfrm>
        <a:graphic>
          <a:graphicData uri="http://schemas.openxmlformats.org/drawingml/2006/table">
            <a:tbl>
              <a:tblPr/>
              <a:tblGrid>
                <a:gridCol w="2743962"/>
                <a:gridCol w="2532888"/>
                <a:gridCol w="2955036"/>
                <a:gridCol w="2321814"/>
              </a:tblGrid>
              <a:tr h="341759">
                <a:tc>
                  <a:txBody>
                    <a:bodyPr/>
                    <a:lstStyle/>
                    <a:p>
                      <a:pPr indent="0" marL="0">
                        <a:lnSpc>
                          <a:spcPts val="1721"/>
                        </a:lnSpc>
                        <a:buNone/>
                      </a:pPr>
                      <a:r>
                        <a:rPr lang="en-US" sz="1229" b="1" dirty="0">
                          <a:solidFill>
                            <a:srgbClr val="141A1F"/>
                          </a:solidFill>
                          <a:latin typeface="IBM Plex Sans" pitchFamily="34" charset="0"/>
                          <a:ea typeface="IBM Plex Sans" pitchFamily="34" charset="-122"/>
                          <a:cs typeface="IBM Plex Sans" pitchFamily="34" charset="-120"/>
                        </a:rPr>
                        <a:t>Candidate</a:t>
                      </a:r>
                      <a:endParaRPr lang="en-US" sz="1229" dirty="0">
                        <a:latin typeface="IBM Plex Sans" charset="0"/>
                        <a:ea typeface="IBM Plex Sans" charset="0"/>
                        <a:cs typeface="IBM Plex Sans" charset="0"/>
                      </a:endParaRPr>
                    </a:p>
                  </a:txBody>
                  <a:tcPr marL="54646" marR="54646" marT="54646" marB="54646" anchor="t">
                    <a:lnL w="12700" cap="flat" cmpd="sng" algn="ctr">
                      <a:solidFill>
                        <a:srgbClr val="C5C5C3"/>
                      </a:solidFill>
                      <a:prstDash val="solid"/>
                      <a:round/>
                      <a:headEnd type="none" w="med" len="med"/>
                      <a:tailEnd type="none" w="med" len="med"/>
                    </a:lnL>
                    <a:lnR w="12700" cap="flat" cmpd="sng" algn="ctr">
                      <a:solidFill>
                        <a:srgbClr val="B7B7B4"/>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7B7B4"/>
                      </a:solidFill>
                      <a:prstDash val="solid"/>
                      <a:round/>
                      <a:headEnd type="none" w="med" len="med"/>
                      <a:tailEnd type="none" w="med" len="med"/>
                    </a:lnB>
                    <a:solidFill>
                      <a:srgbClr val="E5E5E2"/>
                    </a:solidFill>
                  </a:tcPr>
                </a:tc>
                <a:tc>
                  <a:txBody>
                    <a:bodyPr/>
                    <a:lstStyle/>
                    <a:p>
                      <a:pPr indent="0" marL="0">
                        <a:lnSpc>
                          <a:spcPts val="1721"/>
                        </a:lnSpc>
                        <a:buNone/>
                      </a:pPr>
                      <a:r>
                        <a:rPr lang="en-US" sz="1229" b="1" dirty="0">
                          <a:solidFill>
                            <a:srgbClr val="141A1F"/>
                          </a:solidFill>
                          <a:latin typeface="IBM Plex Sans" pitchFamily="34" charset="0"/>
                          <a:ea typeface="IBM Plex Sans" pitchFamily="34" charset="-122"/>
                          <a:cs typeface="IBM Plex Sans" pitchFamily="34" charset="-120"/>
                        </a:rPr>
                        <a:t>Intended use</a:t>
                      </a:r>
                      <a:endParaRPr lang="en-US" sz="1229" dirty="0">
                        <a:latin typeface="IBM Plex Sans" charset="0"/>
                        <a:ea typeface="IBM Plex Sans" charset="0"/>
                        <a:cs typeface="IBM Plex Sans" charset="0"/>
                      </a:endParaRPr>
                    </a:p>
                  </a:txBody>
                  <a:tcPr marL="54646" marR="54646" marT="54646" marB="54646" anchor="t">
                    <a:lnL w="12700" cap="flat" cmpd="sng" algn="ctr">
                      <a:solidFill>
                        <a:srgbClr val="B7B7B4"/>
                      </a:solidFill>
                      <a:prstDash val="solid"/>
                      <a:round/>
                      <a:headEnd type="none" w="med" len="med"/>
                      <a:tailEnd type="none" w="med" len="med"/>
                    </a:lnL>
                    <a:lnR w="12700" cap="flat" cmpd="sng" algn="ctr">
                      <a:solidFill>
                        <a:srgbClr val="B7B7B4"/>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7B7B4"/>
                      </a:solidFill>
                      <a:prstDash val="solid"/>
                      <a:round/>
                      <a:headEnd type="none" w="med" len="med"/>
                      <a:tailEnd type="none" w="med" len="med"/>
                    </a:lnB>
                    <a:solidFill>
                      <a:srgbClr val="E5E5E2"/>
                    </a:solidFill>
                  </a:tcPr>
                </a:tc>
                <a:tc>
                  <a:txBody>
                    <a:bodyPr/>
                    <a:lstStyle/>
                    <a:p>
                      <a:pPr indent="0" marL="0">
                        <a:lnSpc>
                          <a:spcPts val="1721"/>
                        </a:lnSpc>
                        <a:buNone/>
                      </a:pPr>
                      <a:r>
                        <a:rPr lang="en-US" sz="1229" b="1" dirty="0">
                          <a:solidFill>
                            <a:srgbClr val="141A1F"/>
                          </a:solidFill>
                          <a:latin typeface="IBM Plex Sans" pitchFamily="34" charset="0"/>
                          <a:ea typeface="IBM Plex Sans" pitchFamily="34" charset="-122"/>
                          <a:cs typeface="IBM Plex Sans" pitchFamily="34" charset="-120"/>
                        </a:rPr>
                        <a:t>Evidence</a:t>
                      </a:r>
                      <a:endParaRPr lang="en-US" sz="1229" dirty="0">
                        <a:latin typeface="IBM Plex Sans" charset="0"/>
                        <a:ea typeface="IBM Plex Sans" charset="0"/>
                        <a:cs typeface="IBM Plex Sans" charset="0"/>
                      </a:endParaRPr>
                    </a:p>
                  </a:txBody>
                  <a:tcPr marL="54646" marR="54646" marT="54646" marB="54646" anchor="t">
                    <a:lnL w="12700" cap="flat" cmpd="sng" algn="ctr">
                      <a:solidFill>
                        <a:srgbClr val="B7B7B4"/>
                      </a:solidFill>
                      <a:prstDash val="solid"/>
                      <a:round/>
                      <a:headEnd type="none" w="med" len="med"/>
                      <a:tailEnd type="none" w="med" len="med"/>
                    </a:lnL>
                    <a:lnR w="12700" cap="flat" cmpd="sng" algn="ctr">
                      <a:solidFill>
                        <a:srgbClr val="B7B7B4"/>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7B7B4"/>
                      </a:solidFill>
                      <a:prstDash val="solid"/>
                      <a:round/>
                      <a:headEnd type="none" w="med" len="med"/>
                      <a:tailEnd type="none" w="med" len="med"/>
                    </a:lnB>
                    <a:solidFill>
                      <a:srgbClr val="E5E5E2"/>
                    </a:solidFill>
                  </a:tcPr>
                </a:tc>
                <a:tc>
                  <a:txBody>
                    <a:bodyPr/>
                    <a:lstStyle/>
                    <a:p>
                      <a:pPr indent="0" marL="0">
                        <a:lnSpc>
                          <a:spcPts val="1721"/>
                        </a:lnSpc>
                        <a:buNone/>
                      </a:pPr>
                      <a:r>
                        <a:rPr lang="en-US" sz="1229" b="1" dirty="0">
                          <a:solidFill>
                            <a:srgbClr val="141A1F"/>
                          </a:solidFill>
                          <a:latin typeface="IBM Plex Sans" pitchFamily="34" charset="0"/>
                          <a:ea typeface="IBM Plex Sans" pitchFamily="34" charset="-122"/>
                          <a:cs typeface="IBM Plex Sans" pitchFamily="34" charset="-120"/>
                        </a:rPr>
                        <a:t>Indications</a:t>
                      </a:r>
                      <a:endParaRPr lang="en-US" sz="1229" dirty="0">
                        <a:latin typeface="IBM Plex Sans" charset="0"/>
                        <a:ea typeface="IBM Plex Sans" charset="0"/>
                        <a:cs typeface="IBM Plex Sans" charset="0"/>
                      </a:endParaRPr>
                    </a:p>
                  </a:txBody>
                  <a:tcPr marL="54646" marR="54646" marT="54646" marB="54646" anchor="t">
                    <a:lnL w="12700" cap="flat" cmpd="sng" algn="ctr">
                      <a:solidFill>
                        <a:srgbClr val="B7B7B4"/>
                      </a:solidFill>
                      <a:prstDash val="solid"/>
                      <a:round/>
                      <a:headEnd type="none" w="med" len="med"/>
                      <a:tailEnd type="none" w="med" len="med"/>
                    </a:lnL>
                    <a:lnR w="12700" cap="flat" cmpd="sng" algn="ctr">
                      <a:solidFill>
                        <a:srgbClr val="B7B7B4"/>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7B7B4"/>
                      </a:solidFill>
                      <a:prstDash val="solid"/>
                      <a:round/>
                      <a:headEnd type="none" w="med" len="med"/>
                      <a:tailEnd type="none" w="med" len="med"/>
                    </a:lnB>
                    <a:solidFill>
                      <a:srgbClr val="E5E5E2"/>
                    </a:solidFill>
                  </a:tcPr>
                </a:tc>
              </a:tr>
              <a:tr h="560288">
                <a:tc>
                  <a:txBody>
                    <a:bodyPr/>
                    <a:lstStyle/>
                    <a:p>
                      <a:pPr indent="0" marL="0">
                        <a:lnSpc>
                          <a:spcPts val="1721"/>
                        </a:lnSpc>
                        <a:buNone/>
                      </a:pPr>
                      <a:r>
                        <a:rPr lang="en-US" sz="1229" dirty="0">
                          <a:solidFill>
                            <a:srgbClr val="141A1F"/>
                          </a:solidFill>
                          <a:latin typeface="IBM Plex Sans" pitchFamily="34" charset="0"/>
                          <a:ea typeface="IBM Plex Sans" pitchFamily="34" charset="-122"/>
                          <a:cs typeface="IBM Plex Sans" pitchFamily="34" charset="-120"/>
                        </a:rPr>
                        <a:t>Proliferation score</a:t>
                      </a:r>
                      <a:endParaRPr lang="en-US" sz="1229" dirty="0">
                        <a:latin typeface="IBM Plex Sans" charset="0"/>
                        <a:ea typeface="IBM Plex Sans" charset="0"/>
                        <a:cs typeface="IBM Plex Sans" charset="0"/>
                      </a:endParaRPr>
                    </a:p>
                  </a:txBody>
                  <a:tcPr marL="54646" marR="54646" marT="54646" marB="54646"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7B7B4"/>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721"/>
                        </a:lnSpc>
                        <a:buNone/>
                      </a:pPr>
                      <a:r>
                        <a:rPr lang="en-US" sz="1229" dirty="0">
                          <a:solidFill>
                            <a:srgbClr val="141A1F"/>
                          </a:solidFill>
                          <a:latin typeface="IBM Plex Sans" pitchFamily="34" charset="0"/>
                          <a:ea typeface="IBM Plex Sans" pitchFamily="34" charset="-122"/>
                          <a:cs typeface="IBM Plex Sans" pitchFamily="34" charset="-120"/>
                        </a:rPr>
                        <a:t>Pan-cancer risk marker</a:t>
                      </a:r>
                      <a:endParaRPr lang="en-US" sz="1229" dirty="0">
                        <a:latin typeface="IBM Plex Sans" charset="0"/>
                        <a:ea typeface="IBM Plex Sans" charset="0"/>
                        <a:cs typeface="IBM Plex Sans" charset="0"/>
                      </a:endParaRPr>
                    </a:p>
                  </a:txBody>
                  <a:tcPr marL="54646" marR="54646" marT="54646" marB="54646"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7B7B4"/>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721"/>
                        </a:lnSpc>
                        <a:buNone/>
                      </a:pPr>
                      <a:r>
                        <a:rPr lang="en-US" sz="1229" dirty="0">
                          <a:solidFill>
                            <a:srgbClr val="141A1F"/>
                          </a:solidFill>
                          <a:latin typeface="IBM Plex Sans" pitchFamily="34" charset="0"/>
                          <a:ea typeface="IBM Plex Sans" pitchFamily="34" charset="-122"/>
                          <a:cs typeface="IBM Plex Sans" pitchFamily="34" charset="-120"/>
                        </a:rPr>
                        <a:t>Every hit risk-associated; proteins agree at G2/M</a:t>
                      </a:r>
                      <a:endParaRPr lang="en-US" sz="1229" dirty="0">
                        <a:latin typeface="IBM Plex Sans" charset="0"/>
                        <a:ea typeface="IBM Plex Sans" charset="0"/>
                        <a:cs typeface="IBM Plex Sans" charset="0"/>
                      </a:endParaRPr>
                    </a:p>
                  </a:txBody>
                  <a:tcPr marL="54646" marR="54646" marT="54646" marB="54646"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7B7B4"/>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721"/>
                        </a:lnSpc>
                        <a:buNone/>
                      </a:pPr>
                      <a:r>
                        <a:rPr lang="en-US" sz="1229" dirty="0">
                          <a:solidFill>
                            <a:srgbClr val="141A1F"/>
                          </a:solidFill>
                          <a:latin typeface="IBM Plex Sans" pitchFamily="34" charset="0"/>
                          <a:ea typeface="IBM Plex Sans" pitchFamily="34" charset="-122"/>
                          <a:cs typeface="IBM Plex Sans" pitchFamily="34" charset="-120"/>
                        </a:rPr>
                        <a:t>MESO, LGG, LIHC, LUAD, PRAD, SKCM, KIRC</a:t>
                      </a:r>
                      <a:endParaRPr lang="en-US" sz="1229" dirty="0">
                        <a:latin typeface="IBM Plex Sans" charset="0"/>
                        <a:ea typeface="IBM Plex Sans" charset="0"/>
                        <a:cs typeface="IBM Plex Sans" charset="0"/>
                      </a:endParaRPr>
                    </a:p>
                  </a:txBody>
                  <a:tcPr marL="54646" marR="54646" marT="54646" marB="54646"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7B7B4"/>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r h="560288">
                <a:tc>
                  <a:txBody>
                    <a:bodyPr/>
                    <a:lstStyle/>
                    <a:p>
                      <a:pPr indent="0" marL="0">
                        <a:lnSpc>
                          <a:spcPts val="1721"/>
                        </a:lnSpc>
                        <a:buNone/>
                      </a:pPr>
                      <a:r>
                        <a:rPr lang="en-US" sz="1229" dirty="0">
                          <a:solidFill>
                            <a:srgbClr val="141A1F"/>
                          </a:solidFill>
                          <a:latin typeface="IBM Plex Sans" pitchFamily="34" charset="0"/>
                          <a:ea typeface="IBM Plex Sans" pitchFamily="34" charset="-122"/>
                          <a:cs typeface="IBM Plex Sans" pitchFamily="34" charset="-120"/>
                        </a:rPr>
                        <a:t>Circadian output score</a:t>
                      </a:r>
                      <a:endParaRPr lang="en-US" sz="1229" dirty="0">
                        <a:latin typeface="IBM Plex Sans" charset="0"/>
                        <a:ea typeface="IBM Plex Sans" charset="0"/>
                        <a:cs typeface="IBM Plex Sans" charset="0"/>
                      </a:endParaRPr>
                    </a:p>
                  </a:txBody>
                  <a:tcPr marL="54646" marR="54646" marT="54646" marB="54646"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721"/>
                        </a:lnSpc>
                        <a:buNone/>
                      </a:pPr>
                      <a:r>
                        <a:rPr lang="en-US" sz="1229" dirty="0">
                          <a:solidFill>
                            <a:srgbClr val="141A1F"/>
                          </a:solidFill>
                          <a:latin typeface="IBM Plex Sans" pitchFamily="34" charset="0"/>
                          <a:ea typeface="IBM Plex Sans" pitchFamily="34" charset="-122"/>
                          <a:cs typeface="IBM Plex Sans" pitchFamily="34" charset="-120"/>
                        </a:rPr>
                        <a:t>Pan-cancer favourable marker</a:t>
                      </a:r>
                      <a:endParaRPr lang="en-US" sz="1229" dirty="0">
                        <a:latin typeface="IBM Plex Sans" charset="0"/>
                        <a:ea typeface="IBM Plex Sans" charset="0"/>
                        <a:cs typeface="IBM Plex Sans" charset="0"/>
                      </a:endParaRPr>
                    </a:p>
                  </a:txBody>
                  <a:tcPr marL="54646" marR="54646" marT="54646" marB="54646"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721"/>
                        </a:lnSpc>
                        <a:buNone/>
                      </a:pPr>
                      <a:r>
                        <a:rPr lang="en-US" sz="1229" dirty="0">
                          <a:solidFill>
                            <a:srgbClr val="141A1F"/>
                          </a:solidFill>
                          <a:latin typeface="IBM Plex Sans" pitchFamily="34" charset="0"/>
                          <a:ea typeface="IBM Plex Sans" pitchFamily="34" charset="-122"/>
                          <a:cs typeface="IBM Plex Sans" pitchFamily="34" charset="-120"/>
                        </a:rPr>
                        <a:t>19 protective hits, none risk-associated</a:t>
                      </a:r>
                      <a:endParaRPr lang="en-US" sz="1229" dirty="0">
                        <a:latin typeface="IBM Plex Sans" charset="0"/>
                        <a:ea typeface="IBM Plex Sans" charset="0"/>
                        <a:cs typeface="IBM Plex Sans" charset="0"/>
                      </a:endParaRPr>
                    </a:p>
                  </a:txBody>
                  <a:tcPr marL="54646" marR="54646" marT="54646" marB="54646"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721"/>
                        </a:lnSpc>
                        <a:buNone/>
                      </a:pPr>
                      <a:r>
                        <a:rPr lang="en-US" sz="1229" dirty="0">
                          <a:solidFill>
                            <a:srgbClr val="141A1F"/>
                          </a:solidFill>
                          <a:latin typeface="IBM Plex Sans" pitchFamily="34" charset="0"/>
                          <a:ea typeface="IBM Plex Sans" pitchFamily="34" charset="-122"/>
                          <a:cs typeface="IBM Plex Sans" pitchFamily="34" charset="-120"/>
                        </a:rPr>
                        <a:t>KIRC, KIRP, LGG, LIHC, LUAD, MESO, PRAD</a:t>
                      </a:r>
                      <a:endParaRPr lang="en-US" sz="1229" dirty="0">
                        <a:latin typeface="IBM Plex Sans" charset="0"/>
                        <a:ea typeface="IBM Plex Sans" charset="0"/>
                        <a:cs typeface="IBM Plex Sans" charset="0"/>
                      </a:endParaRPr>
                    </a:p>
                  </a:txBody>
                  <a:tcPr marL="54646" marR="54646" marT="54646" marB="54646"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r h="341759">
                <a:tc>
                  <a:txBody>
                    <a:bodyPr/>
                    <a:lstStyle/>
                    <a:p>
                      <a:pPr indent="0" marL="0">
                        <a:lnSpc>
                          <a:spcPts val="1721"/>
                        </a:lnSpc>
                        <a:buNone/>
                      </a:pPr>
                      <a:r>
                        <a:rPr lang="en-US" sz="1229" dirty="0">
                          <a:solidFill>
                            <a:srgbClr val="141A1F"/>
                          </a:solidFill>
                          <a:latin typeface="IBM Plex Sans" pitchFamily="34" charset="0"/>
                          <a:ea typeface="IBM Plex Sans" pitchFamily="34" charset="-122"/>
                          <a:cs typeface="IBM Plex Sans" pitchFamily="34" charset="-120"/>
                        </a:rPr>
                        <a:t>IGFBP2</a:t>
                      </a:r>
                      <a:endParaRPr lang="en-US" sz="1229" dirty="0">
                        <a:latin typeface="IBM Plex Sans" charset="0"/>
                        <a:ea typeface="IBM Plex Sans" charset="0"/>
                        <a:cs typeface="IBM Plex Sans" charset="0"/>
                      </a:endParaRPr>
                    </a:p>
                  </a:txBody>
                  <a:tcPr marL="54646" marR="54646" marT="54646" marB="54646"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721"/>
                        </a:lnSpc>
                        <a:buNone/>
                      </a:pPr>
                      <a:r>
                        <a:rPr lang="en-US" sz="1229" dirty="0">
                          <a:solidFill>
                            <a:srgbClr val="141A1F"/>
                          </a:solidFill>
                          <a:latin typeface="IBM Plex Sans" pitchFamily="34" charset="0"/>
                          <a:ea typeface="IBM Plex Sans" pitchFamily="34" charset="-122"/>
                          <a:cs typeface="IBM Plex Sans" pitchFamily="34" charset="-120"/>
                        </a:rPr>
                        <a:t>Glioma and renal risk marker</a:t>
                      </a:r>
                      <a:endParaRPr lang="en-US" sz="1229" dirty="0">
                        <a:latin typeface="IBM Plex Sans" charset="0"/>
                        <a:ea typeface="IBM Plex Sans" charset="0"/>
                        <a:cs typeface="IBM Plex Sans" charset="0"/>
                      </a:endParaRPr>
                    </a:p>
                  </a:txBody>
                  <a:tcPr marL="54646" marR="54646" marT="54646" marB="54646"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721"/>
                        </a:lnSpc>
                        <a:buNone/>
                      </a:pPr>
                      <a:r>
                        <a:rPr lang="en-US" sz="1229" dirty="0">
                          <a:solidFill>
                            <a:srgbClr val="141A1F"/>
                          </a:solidFill>
                          <a:latin typeface="IBM Plex Sans" pitchFamily="34" charset="0"/>
                          <a:ea typeface="IBM Plex Sans" pitchFamily="34" charset="-122"/>
                          <a:cs typeface="IBM Plex Sans" pitchFamily="34" charset="-120"/>
                        </a:rPr>
                        <a:t>RNA and protein both risk-associated</a:t>
                      </a:r>
                      <a:endParaRPr lang="en-US" sz="1229" dirty="0">
                        <a:latin typeface="IBM Plex Sans" charset="0"/>
                        <a:ea typeface="IBM Plex Sans" charset="0"/>
                        <a:cs typeface="IBM Plex Sans" charset="0"/>
                      </a:endParaRPr>
                    </a:p>
                  </a:txBody>
                  <a:tcPr marL="54646" marR="54646" marT="54646" marB="54646"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721"/>
                        </a:lnSpc>
                        <a:buNone/>
                      </a:pPr>
                      <a:r>
                        <a:rPr lang="en-US" sz="1229" dirty="0">
                          <a:solidFill>
                            <a:srgbClr val="141A1F"/>
                          </a:solidFill>
                          <a:latin typeface="IBM Plex Sans" pitchFamily="34" charset="0"/>
                          <a:ea typeface="IBM Plex Sans" pitchFamily="34" charset="-122"/>
                          <a:cs typeface="IBM Plex Sans" pitchFamily="34" charset="-120"/>
                        </a:rPr>
                        <a:t>LGG, GBM, KIRC</a:t>
                      </a:r>
                      <a:endParaRPr lang="en-US" sz="1229" dirty="0">
                        <a:latin typeface="IBM Plex Sans" charset="0"/>
                        <a:ea typeface="IBM Plex Sans" charset="0"/>
                        <a:cs typeface="IBM Plex Sans" charset="0"/>
                      </a:endParaRPr>
                    </a:p>
                  </a:txBody>
                  <a:tcPr marL="54646" marR="54646" marT="54646" marB="54646"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r h="341809">
                <a:tc>
                  <a:txBody>
                    <a:bodyPr/>
                    <a:lstStyle/>
                    <a:p>
                      <a:pPr indent="0" marL="0">
                        <a:lnSpc>
                          <a:spcPts val="1721"/>
                        </a:lnSpc>
                        <a:buNone/>
                      </a:pPr>
                      <a:r>
                        <a:rPr lang="en-US" sz="1229" dirty="0">
                          <a:solidFill>
                            <a:srgbClr val="141A1F"/>
                          </a:solidFill>
                          <a:latin typeface="IBM Plex Sans" pitchFamily="34" charset="0"/>
                          <a:ea typeface="IBM Plex Sans" pitchFamily="34" charset="-122"/>
                          <a:cs typeface="IBM Plex Sans" pitchFamily="34" charset="-120"/>
                        </a:rPr>
                        <a:t>PAI-1</a:t>
                      </a:r>
                      <a:endParaRPr lang="en-US" sz="1229" dirty="0">
                        <a:latin typeface="IBM Plex Sans" charset="0"/>
                        <a:ea typeface="IBM Plex Sans" charset="0"/>
                        <a:cs typeface="IBM Plex Sans" charset="0"/>
                      </a:endParaRPr>
                    </a:p>
                  </a:txBody>
                  <a:tcPr marL="54646" marR="54646" marT="54646" marB="54646"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721"/>
                        </a:lnSpc>
                        <a:buNone/>
                      </a:pPr>
                      <a:r>
                        <a:rPr lang="en-US" sz="1229" dirty="0">
                          <a:solidFill>
                            <a:srgbClr val="141A1F"/>
                          </a:solidFill>
                          <a:latin typeface="IBM Plex Sans" pitchFamily="34" charset="0"/>
                          <a:ea typeface="IBM Plex Sans" pitchFamily="34" charset="-122"/>
                          <a:cs typeface="IBM Plex Sans" pitchFamily="34" charset="-120"/>
                        </a:rPr>
                        <a:t>Invasion and stroma marker</a:t>
                      </a:r>
                      <a:endParaRPr lang="en-US" sz="1229" dirty="0">
                        <a:latin typeface="IBM Plex Sans" charset="0"/>
                        <a:ea typeface="IBM Plex Sans" charset="0"/>
                        <a:cs typeface="IBM Plex Sans" charset="0"/>
                      </a:endParaRPr>
                    </a:p>
                  </a:txBody>
                  <a:tcPr marL="54646" marR="54646" marT="54646" marB="54646"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721"/>
                        </a:lnSpc>
                        <a:buNone/>
                      </a:pPr>
                      <a:r>
                        <a:rPr lang="en-US" sz="1229" dirty="0">
                          <a:solidFill>
                            <a:srgbClr val="141A1F"/>
                          </a:solidFill>
                          <a:latin typeface="IBM Plex Sans" pitchFamily="34" charset="0"/>
                          <a:ea typeface="IBM Plex Sans" pitchFamily="34" charset="-122"/>
                          <a:cs typeface="IBM Plex Sans" pitchFamily="34" charset="-120"/>
                        </a:rPr>
                        <a:t>RNA and protein both risk-associated</a:t>
                      </a:r>
                      <a:endParaRPr lang="en-US" sz="1229" dirty="0">
                        <a:latin typeface="IBM Plex Sans" charset="0"/>
                        <a:ea typeface="IBM Plex Sans" charset="0"/>
                        <a:cs typeface="IBM Plex Sans" charset="0"/>
                      </a:endParaRPr>
                    </a:p>
                  </a:txBody>
                  <a:tcPr marL="54646" marR="54646" marT="54646" marB="54646"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721"/>
                        </a:lnSpc>
                        <a:buNone/>
                      </a:pPr>
                      <a:r>
                        <a:rPr lang="en-US" sz="1229" dirty="0">
                          <a:solidFill>
                            <a:srgbClr val="141A1F"/>
                          </a:solidFill>
                          <a:latin typeface="IBM Plex Sans" pitchFamily="34" charset="0"/>
                          <a:ea typeface="IBM Plex Sans" pitchFamily="34" charset="-122"/>
                          <a:cs typeface="IBM Plex Sans" pitchFamily="34" charset="-120"/>
                        </a:rPr>
                        <a:t>KIRC, GBM, LGG</a:t>
                      </a:r>
                      <a:endParaRPr lang="en-US" sz="1229" dirty="0">
                        <a:latin typeface="IBM Plex Sans" charset="0"/>
                        <a:ea typeface="IBM Plex Sans" charset="0"/>
                        <a:cs typeface="IBM Plex Sans" charset="0"/>
                      </a:endParaRPr>
                    </a:p>
                  </a:txBody>
                  <a:tcPr marL="54646" marR="54646" marT="54646" marB="54646"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r h="560338">
                <a:tc>
                  <a:txBody>
                    <a:bodyPr/>
                    <a:lstStyle/>
                    <a:p>
                      <a:pPr indent="0" marL="0">
                        <a:lnSpc>
                          <a:spcPts val="1721"/>
                        </a:lnSpc>
                        <a:buNone/>
                      </a:pPr>
                      <a:r>
                        <a:rPr lang="en-US" sz="1229" dirty="0">
                          <a:solidFill>
                            <a:srgbClr val="141A1F"/>
                          </a:solidFill>
                          <a:latin typeface="IBM Plex Sans" pitchFamily="34" charset="0"/>
                          <a:ea typeface="IBM Plex Sans" pitchFamily="34" charset="-122"/>
                          <a:cs typeface="IBM Plex Sans" pitchFamily="34" charset="-120"/>
                        </a:rPr>
                        <a:t>Immune score</a:t>
                      </a:r>
                      <a:endParaRPr lang="en-US" sz="1229" dirty="0">
                        <a:latin typeface="IBM Plex Sans" charset="0"/>
                        <a:ea typeface="IBM Plex Sans" charset="0"/>
                        <a:cs typeface="IBM Plex Sans" charset="0"/>
                      </a:endParaRPr>
                    </a:p>
                  </a:txBody>
                  <a:tcPr marL="54646" marR="54646" marT="54646" marB="54646"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721"/>
                        </a:lnSpc>
                        <a:buNone/>
                      </a:pPr>
                      <a:r>
                        <a:rPr lang="en-US" sz="1229" dirty="0">
                          <a:solidFill>
                            <a:srgbClr val="141A1F"/>
                          </a:solidFill>
                          <a:latin typeface="IBM Plex Sans" pitchFamily="34" charset="0"/>
                          <a:ea typeface="IBM Plex Sans" pitchFamily="34" charset="-122"/>
                          <a:cs typeface="IBM Plex Sans" pitchFamily="34" charset="-120"/>
                        </a:rPr>
                        <a:t>Context-dependent; sign set per cancer</a:t>
                      </a:r>
                      <a:endParaRPr lang="en-US" sz="1229" dirty="0">
                        <a:latin typeface="IBM Plex Sans" charset="0"/>
                        <a:ea typeface="IBM Plex Sans" charset="0"/>
                        <a:cs typeface="IBM Plex Sans" charset="0"/>
                      </a:endParaRPr>
                    </a:p>
                  </a:txBody>
                  <a:tcPr marL="54646" marR="54646" marT="54646" marB="54646"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721"/>
                        </a:lnSpc>
                        <a:buNone/>
                      </a:pPr>
                      <a:r>
                        <a:rPr lang="en-US" sz="1229" dirty="0">
                          <a:solidFill>
                            <a:srgbClr val="141A1F"/>
                          </a:solidFill>
                          <a:latin typeface="IBM Plex Sans" pitchFamily="34" charset="0"/>
                          <a:ea typeface="IBM Plex Sans" pitchFamily="34" charset="-122"/>
                          <a:cs typeface="IBM Plex Sans" pitchFamily="34" charset="-120"/>
                        </a:rPr>
                        <a:t>Protective in four cancers, risk in three</a:t>
                      </a:r>
                      <a:endParaRPr lang="en-US" sz="1229" dirty="0">
                        <a:latin typeface="IBM Plex Sans" charset="0"/>
                        <a:ea typeface="IBM Plex Sans" charset="0"/>
                        <a:cs typeface="IBM Plex Sans" charset="0"/>
                      </a:endParaRPr>
                    </a:p>
                  </a:txBody>
                  <a:tcPr marL="54646" marR="54646" marT="54646" marB="54646"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721"/>
                        </a:lnSpc>
                        <a:buNone/>
                      </a:pPr>
                      <a:r>
                        <a:rPr lang="en-US" sz="1229" dirty="0">
                          <a:solidFill>
                            <a:srgbClr val="141A1F"/>
                          </a:solidFill>
                          <a:latin typeface="IBM Plex Sans" pitchFamily="34" charset="0"/>
                          <a:ea typeface="IBM Plex Sans" pitchFamily="34" charset="-122"/>
                          <a:cs typeface="IBM Plex Sans" pitchFamily="34" charset="-120"/>
                        </a:rPr>
                        <a:t>Not usable as one pan-cancer marker</a:t>
                      </a:r>
                      <a:endParaRPr lang="en-US" sz="1229" dirty="0">
                        <a:latin typeface="IBM Plex Sans" charset="0"/>
                        <a:ea typeface="IBM Plex Sans" charset="0"/>
                        <a:cs typeface="IBM Plex Sans" charset="0"/>
                      </a:endParaRPr>
                    </a:p>
                  </a:txBody>
                  <a:tcPr marL="54646" marR="54646" marT="54646" marB="54646"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r h="560338">
                <a:tc>
                  <a:txBody>
                    <a:bodyPr/>
                    <a:lstStyle/>
                    <a:p>
                      <a:pPr indent="0" marL="0">
                        <a:lnSpc>
                          <a:spcPts val="1721"/>
                        </a:lnSpc>
                        <a:buNone/>
                      </a:pPr>
                      <a:r>
                        <a:rPr lang="en-US" sz="1229" dirty="0">
                          <a:solidFill>
                            <a:srgbClr val="141A1F"/>
                          </a:solidFill>
                          <a:latin typeface="IBM Plex Sans" pitchFamily="34" charset="0"/>
                          <a:ea typeface="IBM Plex Sans" pitchFamily="34" charset="-122"/>
                          <a:cs typeface="IBM Plex Sans" pitchFamily="34" charset="-120"/>
                        </a:rPr>
                        <a:t>CBX7</a:t>
                      </a:r>
                      <a:endParaRPr lang="en-US" sz="1229" dirty="0">
                        <a:latin typeface="IBM Plex Sans" charset="0"/>
                        <a:ea typeface="IBM Plex Sans" charset="0"/>
                        <a:cs typeface="IBM Plex Sans" charset="0"/>
                      </a:endParaRPr>
                    </a:p>
                  </a:txBody>
                  <a:tcPr marL="54646" marR="54646" marT="54646" marB="54646"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721"/>
                        </a:lnSpc>
                        <a:buNone/>
                      </a:pPr>
                      <a:r>
                        <a:rPr lang="en-US" sz="1229" dirty="0">
                          <a:solidFill>
                            <a:srgbClr val="141A1F"/>
                          </a:solidFill>
                          <a:latin typeface="IBM Plex Sans" pitchFamily="34" charset="0"/>
                          <a:ea typeface="IBM Plex Sans" pitchFamily="34" charset="-122"/>
                          <a:cs typeface="IBM Plex Sans" pitchFamily="34" charset="-120"/>
                        </a:rPr>
                        <a:t>Tumour-suppressor candidate</a:t>
                      </a:r>
                      <a:endParaRPr lang="en-US" sz="1229" dirty="0">
                        <a:latin typeface="IBM Plex Sans" charset="0"/>
                        <a:ea typeface="IBM Plex Sans" charset="0"/>
                        <a:cs typeface="IBM Plex Sans" charset="0"/>
                      </a:endParaRPr>
                    </a:p>
                  </a:txBody>
                  <a:tcPr marL="54646" marR="54646" marT="54646" marB="54646"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721"/>
                        </a:lnSpc>
                        <a:buNone/>
                      </a:pPr>
                      <a:r>
                        <a:rPr lang="en-US" sz="1229" dirty="0">
                          <a:solidFill>
                            <a:srgbClr val="141A1F"/>
                          </a:solidFill>
                          <a:latin typeface="IBM Plex Sans" pitchFamily="34" charset="0"/>
                          <a:ea typeface="IBM Plex Sans" pitchFamily="34" charset="-122"/>
                          <a:cs typeface="IBM Plex Sans" pitchFamily="34" charset="-120"/>
                        </a:rPr>
                        <a:t>Protective in five cancers, all replicating</a:t>
                      </a:r>
                      <a:endParaRPr lang="en-US" sz="1229" dirty="0">
                        <a:latin typeface="IBM Plex Sans" charset="0"/>
                        <a:ea typeface="IBM Plex Sans" charset="0"/>
                        <a:cs typeface="IBM Plex Sans" charset="0"/>
                      </a:endParaRPr>
                    </a:p>
                  </a:txBody>
                  <a:tcPr marL="54646" marR="54646" marT="54646" marB="54646"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721"/>
                        </a:lnSpc>
                        <a:buNone/>
                      </a:pPr>
                      <a:r>
                        <a:rPr lang="en-US" sz="1229" dirty="0">
                          <a:solidFill>
                            <a:srgbClr val="141A1F"/>
                          </a:solidFill>
                          <a:latin typeface="IBM Plex Sans" pitchFamily="34" charset="0"/>
                          <a:ea typeface="IBM Plex Sans" pitchFamily="34" charset="-122"/>
                          <a:cs typeface="IBM Plex Sans" pitchFamily="34" charset="-120"/>
                        </a:rPr>
                        <a:t>KIRC, LGG, MESO, PAAD, SKCM</a:t>
                      </a:r>
                      <a:endParaRPr lang="en-US" sz="1229" dirty="0">
                        <a:latin typeface="IBM Plex Sans" charset="0"/>
                        <a:ea typeface="IBM Plex Sans" charset="0"/>
                        <a:cs typeface="IBM Plex Sans" charset="0"/>
                      </a:endParaRPr>
                    </a:p>
                  </a:txBody>
                  <a:tcPr marL="54646" marR="54646" marT="54646" marB="54646"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bl>
          </a:graphicData>
        </a:graphic>
      </p:graphicFrame>
      <p:sp>
        <p:nvSpPr>
          <p:cNvPr id="4" name="Text 1"/>
          <p:cNvSpPr/>
          <p:nvPr/>
        </p:nvSpPr>
        <p:spPr>
          <a:xfrm>
            <a:off x="812800" y="5383213"/>
            <a:ext cx="9810750" cy="484187"/>
          </a:xfrm>
          <a:prstGeom prst="rect">
            <a:avLst/>
          </a:prstGeom>
          <a:noFill/>
          <a:ln/>
        </p:spPr>
        <p:txBody>
          <a:bodyPr wrap="square" lIns="0" tIns="0" rIns="0" bIns="0" rtlCol="0" anchor="t">
            <a:normAutofit/>
          </a:bodyPr>
          <a:lstStyle/>
          <a:p>
            <a:pPr algn="l" indent="0" marL="0">
              <a:lnSpc>
                <a:spcPts val="1805"/>
              </a:lnSpc>
              <a:buNone/>
            </a:pPr>
            <a:r>
              <a:rPr lang="en-US" sz="1245" dirty="0">
                <a:solidFill>
                  <a:srgbClr val="4A5560"/>
                </a:solidFill>
                <a:latin typeface="IBM Plex Sans" pitchFamily="34" charset="0"/>
                <a:ea typeface="IBM Plex Sans" pitchFamily="34" charset="-122"/>
                <a:cs typeface="IBM Plex Sans" pitchFamily="34" charset="-120"/>
              </a:rPr>
              <a:t>The first three combine recurrence across cancers, held-out replication and independent protein support. None has been validated outside TCGA.</a:t>
            </a:r>
            <a:endParaRPr lang="en-US" sz="1245" dirty="0"/>
          </a:p>
        </p:txBody>
      </p:sp>
      <p:sp>
        <p:nvSpPr>
          <p:cNvPr id="5" name="Text 2"/>
          <p:cNvSpPr/>
          <p:nvPr/>
        </p:nvSpPr>
        <p:spPr>
          <a:xfrm>
            <a:off x="812800" y="6238280"/>
            <a:ext cx="78975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38B"/>
                </a:solidFill>
                <a:latin typeface="IBM Plex Sans" pitchFamily="34" charset="0"/>
                <a:ea typeface="IBM Plex Sans" pitchFamily="34" charset="-122"/>
                <a:cs typeface="IBM Plex Sans" pitchFamily="34" charset="-120"/>
              </a:rPr>
              <a:t>Tiered by intended use · protein support from antibody-based measurement in the same cohorts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A1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56022"/>
          </a:xfrm>
          <a:prstGeom prst="rect">
            <a:avLst/>
          </a:prstGeom>
          <a:noFill/>
          <a:ln/>
        </p:spPr>
        <p:txBody>
          <a:bodyPr wrap="square" lIns="0" tIns="0" rIns="0" bIns="0" rtlCol="0" anchor="t">
            <a:normAutofit/>
          </a:bodyPr>
          <a:lstStyle/>
          <a:p>
            <a:pPr algn="l" indent="0" marL="0">
              <a:lnSpc>
                <a:spcPts val="3675"/>
              </a:lnSpc>
              <a:buNone/>
            </a:pPr>
            <a:r>
              <a:rPr lang="en-US" sz="3341" b="0" i="0" dirty="0">
                <a:solidFill>
                  <a:srgbClr val="F7F7F4"/>
                </a:solidFill>
                <a:latin typeface="Source Serif 4" pitchFamily="18" charset="0"/>
                <a:ea typeface="Source Serif 4" pitchFamily="18" charset="-122"/>
                <a:cs typeface="Source Serif 4" pitchFamily="18" charset="-120"/>
              </a:rPr>
              <a:t>No external validation yet; replication is the next step</a:t>
            </a:r>
            <a:endParaRPr lang="en-US" sz="3341" dirty="0"/>
          </a:p>
        </p:txBody>
      </p:sp>
      <p:sp>
        <p:nvSpPr>
          <p:cNvPr id="3" name="Text 1"/>
          <p:cNvSpPr/>
          <p:nvPr/>
        </p:nvSpPr>
        <p:spPr>
          <a:xfrm>
            <a:off x="812800" y="1997422"/>
            <a:ext cx="531088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703D"/>
                </a:solidFill>
                <a:latin typeface="IBM Plex Sans" pitchFamily="34" charset="0"/>
                <a:ea typeface="IBM Plex Sans" pitchFamily="34" charset="-122"/>
                <a:cs typeface="IBM Plex Sans" pitchFamily="34" charset="-120"/>
              </a:rPr>
              <a:t>OPEN RISKS</a:t>
            </a:r>
            <a:endParaRPr lang="en-US" sz="1200" dirty="0"/>
          </a:p>
        </p:txBody>
      </p:sp>
      <p:sp>
        <p:nvSpPr>
          <p:cNvPr id="4" name="Text 2"/>
          <p:cNvSpPr/>
          <p:nvPr/>
        </p:nvSpPr>
        <p:spPr>
          <a:xfrm>
            <a:off x="891032" y="2363143"/>
            <a:ext cx="5225034" cy="2603103"/>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C3D0D4"/>
                </a:solidFill>
                <a:latin typeface="IBM Plex Sans" pitchFamily="34" charset="0"/>
                <a:ea typeface="IBM Plex Sans" pitchFamily="34" charset="-122"/>
                <a:cs typeface="IBM Plex Sans" pitchFamily="34" charset="-120"/>
              </a:rPr>
              <a:t>No external validation. Every figure is internal to TCGA, split 80 / 20.</a:t>
            </a:r>
            <a:endParaRPr lang="en-US" sz="1400" dirty="0"/>
          </a:p>
          <a:p>
            <a:pPr algn="l" marL="175768" indent="-175768">
              <a:lnSpc>
                <a:spcPts val="2030"/>
              </a:lnSpc>
              <a:buSzPct val="100000"/>
              <a:buChar char="•"/>
            </a:pPr>
            <a:r>
              <a:rPr lang="en-US" sz="1400" dirty="0">
                <a:solidFill>
                  <a:srgbClr val="C3D0D4"/>
                </a:solidFill>
                <a:latin typeface="IBM Plex Sans" pitchFamily="34" charset="0"/>
                <a:ea typeface="IBM Plex Sans" pitchFamily="34" charset="-122"/>
                <a:cs typeface="IBM Plex Sans" pitchFamily="34" charset="-120"/>
              </a:rPr>
              <a:t>The per-gene screen does not adjust for stage, grade or molecular subtype.</a:t>
            </a:r>
            <a:endParaRPr lang="en-US" sz="1400" dirty="0"/>
          </a:p>
          <a:p>
            <a:pPr algn="l" marL="175768" indent="-175768">
              <a:lnSpc>
                <a:spcPts val="2030"/>
              </a:lnSpc>
              <a:buSzPct val="100000"/>
              <a:buChar char="•"/>
            </a:pPr>
            <a:r>
              <a:rPr lang="en-US" sz="1400" dirty="0">
                <a:solidFill>
                  <a:srgbClr val="C3D0D4"/>
                </a:solidFill>
                <a:latin typeface="IBM Plex Sans" pitchFamily="34" charset="0"/>
                <a:ea typeface="IBM Plex Sans" pitchFamily="34" charset="-122"/>
                <a:cs typeface="IBM Plex Sans" pitchFamily="34" charset="-120"/>
              </a:rPr>
              <a:t>Gene sets were curated by hand, not by formal enrichment testing.</a:t>
            </a:r>
            <a:endParaRPr lang="en-US" sz="1400" dirty="0"/>
          </a:p>
          <a:p>
            <a:pPr algn="l" marL="175768" indent="-175768">
              <a:lnSpc>
                <a:spcPts val="2030"/>
              </a:lnSpc>
              <a:buSzPct val="100000"/>
              <a:buChar char="•"/>
            </a:pPr>
            <a:r>
              <a:rPr lang="en-US" sz="1400" dirty="0">
                <a:solidFill>
                  <a:srgbClr val="C3D0D4"/>
                </a:solidFill>
                <a:latin typeface="IBM Plex Sans" pitchFamily="34" charset="0"/>
                <a:ea typeface="IBM Plex Sans" pitchFamily="34" charset="-122"/>
                <a:cs typeface="IBM Plex Sans" pitchFamily="34" charset="-120"/>
              </a:rPr>
              <a:t>Two cohorts rest on fewer than ten events and are reported separately.</a:t>
            </a:r>
            <a:endParaRPr lang="en-US" sz="1400" dirty="0"/>
          </a:p>
          <a:p>
            <a:pPr algn="l" marL="175768" indent="-175768">
              <a:lnSpc>
                <a:spcPts val="2030"/>
              </a:lnSpc>
              <a:buSzPct val="100000"/>
              <a:buChar char="•"/>
            </a:pPr>
            <a:r>
              <a:rPr lang="en-US" sz="1400" dirty="0">
                <a:solidFill>
                  <a:srgbClr val="C3D0D4"/>
                </a:solidFill>
                <a:latin typeface="IBM Plex Sans" pitchFamily="34" charset="0"/>
                <a:ea typeface="IBM Plex Sans" pitchFamily="34" charset="-122"/>
                <a:cs typeface="IBM Plex Sans" pitchFamily="34" charset="-120"/>
              </a:rPr>
              <a:t>Associations and directions are established; mechanism is not.</a:t>
            </a:r>
            <a:endParaRPr lang="en-US" sz="1400" dirty="0"/>
          </a:p>
        </p:txBody>
      </p:sp>
      <p:sp>
        <p:nvSpPr>
          <p:cNvPr id="5" name="Text 3"/>
          <p:cNvSpPr/>
          <p:nvPr/>
        </p:nvSpPr>
        <p:spPr>
          <a:xfrm>
            <a:off x="6223000" y="1997422"/>
            <a:ext cx="5310886" cy="218182"/>
          </a:xfrm>
          <a:prstGeom prst="rect">
            <a:avLst/>
          </a:prstGeom>
          <a:noFill/>
          <a:ln/>
        </p:spPr>
        <p:txBody>
          <a:bodyPr wrap="square" lIns="0" tIns="0" rIns="0" bIns="0" rtlCol="0" anchor="t">
            <a:normAutofit/>
          </a:bodyPr>
          <a:lstStyle/>
          <a:p>
            <a:pPr algn="l" indent="0" marL="0">
              <a:lnSpc>
                <a:spcPts val="1523"/>
              </a:lnSpc>
              <a:buNone/>
            </a:pPr>
            <a:r>
              <a:rPr lang="en-US" sz="1088" spc="100" kern="0" dirty="0">
                <a:solidFill>
                  <a:srgbClr val="1F6F8B"/>
                </a:solidFill>
                <a:latin typeface="IBM Plex Sans" pitchFamily="34" charset="0"/>
                <a:ea typeface="IBM Plex Sans" pitchFamily="34" charset="-122"/>
                <a:cs typeface="IBM Plex Sans" pitchFamily="34" charset="-120"/>
              </a:rPr>
              <a:t>NEXT MILESTONE</a:t>
            </a:r>
            <a:endParaRPr lang="en-US" sz="1088" dirty="0"/>
          </a:p>
        </p:txBody>
      </p:sp>
      <p:sp>
        <p:nvSpPr>
          <p:cNvPr id="6" name="Shape 4"/>
          <p:cNvSpPr/>
          <p:nvPr/>
        </p:nvSpPr>
        <p:spPr>
          <a:xfrm>
            <a:off x="6226175" y="2345779"/>
            <a:ext cx="5149850" cy="2175718"/>
          </a:xfrm>
          <a:prstGeom prst="roundRect">
            <a:avLst>
              <a:gd name="adj" fmla="val 4524"/>
            </a:avLst>
          </a:prstGeom>
          <a:solidFill>
            <a:srgbClr val="1C242B"/>
          </a:solidFill>
          <a:ln w="6350">
            <a:solidFill>
              <a:srgbClr val="2E3A42"/>
            </a:solidFill>
            <a:prstDash val="solid"/>
          </a:ln>
        </p:spPr>
      </p:sp>
      <p:sp>
        <p:nvSpPr>
          <p:cNvPr id="7" name="Text 5"/>
          <p:cNvSpPr/>
          <p:nvPr/>
        </p:nvSpPr>
        <p:spPr>
          <a:xfrm>
            <a:off x="6534150" y="2653754"/>
            <a:ext cx="4669917" cy="326430"/>
          </a:xfrm>
          <a:prstGeom prst="rect">
            <a:avLst/>
          </a:prstGeom>
          <a:noFill/>
          <a:ln/>
        </p:spPr>
        <p:txBody>
          <a:bodyPr wrap="square" lIns="0" tIns="0" rIns="0" bIns="0" rtlCol="0" anchor="t">
            <a:normAutofit/>
          </a:bodyPr>
          <a:lstStyle/>
          <a:p>
            <a:pPr algn="l" indent="0" marL="0">
              <a:lnSpc>
                <a:spcPts val="2368"/>
              </a:lnSpc>
              <a:buNone/>
            </a:pPr>
            <a:r>
              <a:rPr lang="en-US" sz="1973" dirty="0">
                <a:solidFill>
                  <a:srgbClr val="F7F7F4"/>
                </a:solidFill>
                <a:latin typeface="IBM Plex Sans" pitchFamily="34" charset="0"/>
                <a:ea typeface="IBM Plex Sans" pitchFamily="34" charset="-122"/>
                <a:cs typeface="IBM Plex Sans" pitchFamily="34" charset="-120"/>
              </a:rPr>
              <a:t>Replicate in an independent cohort</a:t>
            </a:r>
            <a:endParaRPr lang="en-US" sz="1973" dirty="0"/>
          </a:p>
        </p:txBody>
      </p:sp>
      <p:sp>
        <p:nvSpPr>
          <p:cNvPr id="8" name="Text 6"/>
          <p:cNvSpPr/>
          <p:nvPr/>
        </p:nvSpPr>
        <p:spPr>
          <a:xfrm>
            <a:off x="6534150" y="3056384"/>
            <a:ext cx="4669917" cy="1182539"/>
          </a:xfrm>
          <a:prstGeom prst="rect">
            <a:avLst/>
          </a:prstGeom>
          <a:noFill/>
          <a:ln/>
        </p:spPr>
        <p:txBody>
          <a:bodyPr wrap="square" lIns="0" tIns="0" rIns="0" bIns="0" rtlCol="0" anchor="t">
            <a:normAutofit/>
          </a:bodyPr>
          <a:lstStyle/>
          <a:p>
            <a:pPr algn="l" indent="0" marL="0">
              <a:lnSpc>
                <a:spcPts val="1821"/>
              </a:lnSpc>
              <a:buNone/>
            </a:pPr>
            <a:r>
              <a:rPr lang="en-US" sz="1256" dirty="0">
                <a:solidFill>
                  <a:srgbClr val="C3D0D4"/>
                </a:solidFill>
                <a:latin typeface="IBM Plex Sans" pitchFamily="34" charset="0"/>
                <a:ea typeface="IBM Plex Sans" pitchFamily="34" charset="-122"/>
                <a:cs typeface="IBM Plex Sans" pitchFamily="34" charset="-120"/>
              </a:rPr>
              <a:t>The proliferation score, the circadian output score and IGFBP2 are the three to test first. Each has a stated direction, a stated indication set and held-out support inside TCGA, so a replication study has a pre-specified hypothesis rather than a fishing licence.</a:t>
            </a:r>
            <a:endParaRPr lang="en-US" sz="1256" dirty="0"/>
          </a:p>
        </p:txBody>
      </p:sp>
      <p:sp>
        <p:nvSpPr>
          <p:cNvPr id="9" name="Text 7"/>
          <p:cNvSpPr/>
          <p:nvPr/>
        </p:nvSpPr>
        <p:spPr>
          <a:xfrm>
            <a:off x="6223000" y="4677073"/>
            <a:ext cx="5310886" cy="1190327"/>
          </a:xfrm>
          <a:prstGeom prst="rect">
            <a:avLst/>
          </a:prstGeom>
          <a:noFill/>
          <a:ln/>
        </p:spPr>
        <p:txBody>
          <a:bodyPr wrap="square" lIns="0" tIns="0" rIns="0" bIns="0" rtlCol="0" anchor="t">
            <a:normAutofit/>
          </a:bodyPr>
          <a:lstStyle/>
          <a:p>
            <a:pPr algn="l" indent="0" marL="0">
              <a:lnSpc>
                <a:spcPts val="1890"/>
              </a:lnSpc>
              <a:buNone/>
            </a:pPr>
            <a:r>
              <a:rPr lang="en-US" sz="1304" dirty="0">
                <a:solidFill>
                  <a:srgbClr val="C3D0D4"/>
                </a:solidFill>
                <a:latin typeface="IBM Plex Sans" pitchFamily="34" charset="0"/>
                <a:ea typeface="IBM Plex Sans" pitchFamily="34" charset="-122"/>
                <a:cs typeface="IBM Plex Sans" pitchFamily="34" charset="-120"/>
              </a:rPr>
              <a:t>Two hypotheses follow directly and can be tested on the same data: whether a proliferation score and an immune score with a cancer-specific sign together explain most cross-cancer variation, and whether clock output stays protective after adjusting for proliferation.</a:t>
            </a:r>
            <a:endParaRPr lang="en-US" sz="1304" dirty="0"/>
          </a:p>
        </p:txBody>
      </p:sp>
      <p:sp>
        <p:nvSpPr>
          <p:cNvPr id="10" name="Text 8"/>
          <p:cNvSpPr/>
          <p:nvPr/>
        </p:nvSpPr>
        <p:spPr>
          <a:xfrm>
            <a:off x="812800" y="6238280"/>
            <a:ext cx="96619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59B"/>
                </a:solidFill>
                <a:latin typeface="IBM Plex Sans" pitchFamily="34" charset="0"/>
                <a:ea typeface="IBM Plex Sans" pitchFamily="34" charset="-122"/>
                <a:cs typeface="IBM Plex Sans" pitchFamily="34" charset="-120"/>
              </a:rPr>
              <a:t>Hazard ratios per standard deviation, Cox per gene, Benjamini–Hochberg within cohort · Denver Ncube · October 2026</a:t>
            </a:r>
            <a:endParaRPr lang="en-US" sz="1200" dirty="0"/>
          </a:p>
        </p:txBody>
      </p:sp>
    </p:spTree>
  </p:cSld>
  <p:clrMapOvr>
    <a:masterClrMapping/>
  </p:clrMapOvr>
</p:sld>
</file>

<file path=ppt/theme/theme1.xml><?xml version="1.0" encoding="utf-8"?>
<a:theme xmlns:a="http://schemas.openxmlformats.org/drawingml/2006/main" name="Pan-Cancer Biomarker Brief">
  <a:themeElements>
    <a:clrScheme name="Pan-Cancer Biomarker Brief">
      <a:dk1>
        <a:srgbClr val="141A1F"/>
      </a:dk1>
      <a:lt1>
        <a:srgbClr val="F7F7F4"/>
      </a:lt1>
      <a:dk2>
        <a:srgbClr val="4D5154"/>
      </a:dk2>
      <a:lt2>
        <a:srgbClr val="E0E1DF"/>
      </a:lt2>
      <a:accent1>
        <a:srgbClr val="C2703D"/>
      </a:accent1>
      <a:accent2>
        <a:srgbClr val="1F6F8B"/>
      </a:accent2>
      <a:accent3>
        <a:srgbClr val="7FA8B5"/>
      </a:accent3>
      <a:accent4>
        <a:srgbClr val="4A3020"/>
      </a:accent4>
      <a:accent5>
        <a:srgbClr val="4A5560"/>
      </a:accent5>
      <a:accent6>
        <a:srgbClr val="C3D0D4"/>
      </a:accent6>
      <a:hlink>
        <a:srgbClr val="0563C1"/>
      </a:hlink>
      <a:folHlink>
        <a:srgbClr val="954F72"/>
      </a:folHlink>
    </a:clrScheme>
    <a:fontScheme name="Pan-Cancer Biomarker Brief">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Pan-Cancer Biomarker Brief</dc:title>
  <dc:subject/>
  <dc:creator/>
  <cp:lastModifiedBy/>
  <cp:revision>1</cp:revision>
  <dcterms:created xsi:type="dcterms:W3CDTF">2026-10-24T07:34:41Z</dcterms:created>
  <dcterms:modified xsi:type="dcterms:W3CDTF">2026-10-24T07:34:41Z</dcterms:modified>
</cp:coreProperties>
</file>